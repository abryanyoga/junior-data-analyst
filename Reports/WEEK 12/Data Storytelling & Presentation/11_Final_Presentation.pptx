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Calibri"/>
              </a:defRPr>
            </a:pPr>
            <a:r>
              <a:rPr sz="1300" b="0" i="0" u="none" strike="noStrike">
                <a:solidFill>
                  <a:srgbClr val="0B2545"/>
                </a:solidFill>
                <a:latin typeface="Calibri"/>
              </a:rPr>
              <a:t>Top 6 Provinsi Berdasarkan Revenue</a:t>
            </a:r>
          </a:p>
        </c:rich>
      </c:tx>
      <c:layout/>
      <c:overlay val="0"/>
    </c:title>
    <c:autoTitleDeleted val="0"/>
    <c:plotArea>
      <c:layout/>
      <c:barChart>
        <c:barDir val="bar"/>
        <c:grouping val="clustered"/>
        <c:varyColors val="0"/>
        <c:ser>
          <c:idx val="0"/>
          <c:order val="0"/>
          <c:tx>
            <c:strRef>
              <c:f>Sheet1!$B$1</c:f>
              <c:strCache>
                <c:ptCount val="1"/>
                <c:pt idx="0">
                  <c:v>Revenue (Rp Miliar)</c:v>
                </c:pt>
              </c:strCache>
            </c:strRef>
          </c:tx>
          <c:spPr>
            <a:solidFill>
              <a:srgbClr val="065A82"/>
            </a:solidFill>
            <a:effectLst/>
          </c:spPr>
          <c:invertIfNegative val="0"/>
          <c:dLbls>
            <c:numFmt formatCode="0.00" sourceLinked="0"/>
            <c:txPr>
              <a:bodyPr/>
              <a:lstStyle/>
              <a:p>
                <a:pPr>
                  <a:defRPr b="0" i="0" strike="noStrike" sz="1000" u="none">
                    <a:solidFill>
                      <a:srgbClr val="2B3245"/>
                    </a:solidFill>
                    <a:latin typeface="Arial"/>
                  </a:defRPr>
                </a:pPr>
              </a:p>
            </c:txPr>
            <c:showLegendKey val="0"/>
            <c:showVal val="1"/>
            <c:showCatName val="0"/>
            <c:showSerName val="0"/>
            <c:showPercent val="0"/>
            <c:showBubbleSize val="0"/>
            <c:showLeaderLines val="0"/>
          </c:dLbls>
          <c:cat>
            <c:multiLvlStrRef>
              <c:f>Sheet1!$A$2:$A$7</c:f>
              <c:multiLvlStrCache>
                <c:ptCount val="6"/>
                <c:lvl>
                  <c:pt idx="0">
                    <c:v>Jawa Barat</c:v>
                  </c:pt>
                  <c:pt idx="1">
                    <c:v>Jawa Timur</c:v>
                  </c:pt>
                  <c:pt idx="2">
                    <c:v>Jawa Tengah</c:v>
                  </c:pt>
                  <c:pt idx="3">
                    <c:v>Kalimantan Timur</c:v>
                  </c:pt>
                  <c:pt idx="4">
                    <c:v>DI Yogyakarta</c:v>
                  </c:pt>
                  <c:pt idx="5">
                    <c:v>Sumatera Utara</c:v>
                  </c:pt>
                </c:lvl>
              </c:multiLvlStrCache>
            </c:multiLvlStrRef>
          </c:cat>
          <c:val>
            <c:numRef>
              <c:f>Sheet1!$B$2:$B$7</c:f>
              <c:numCache>
                <c:formatCode>General</c:formatCode>
                <c:ptCount val="6"/>
                <c:pt idx="0">
                  <c:v>4.14</c:v>
                </c:pt>
                <c:pt idx="1">
                  <c:v>1.79</c:v>
                </c:pt>
                <c:pt idx="2">
                  <c:v>1.44</c:v>
                </c:pt>
                <c:pt idx="3">
                  <c:v>1.39</c:v>
                </c:pt>
                <c:pt idx="4">
                  <c:v>0.92</c:v>
                </c:pt>
                <c:pt idx="5">
                  <c:v>0.91</c:v>
                </c:pt>
              </c:numCache>
            </c:numRef>
          </c:val>
        </c:ser>
        <c:dLbls>
          <c:numFmt formatCode="0.00" sourceLinked="0"/>
          <c:txPr>
            <a:bodyPr/>
            <a:lstStyle/>
            <a:p>
              <a:pPr>
                <a:defRPr b="0" i="0" strike="noStrike" sz="1000" u="none">
                  <a:solidFill>
                    <a:srgbClr val="2B3245"/>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324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3E9F2"/>
              </a:solidFill>
              <a:prstDash val="solid"/>
              <a:round/>
            </a:ln>
          </c:spPr>
        </c:majorGridlines>
        <c:title>
          <c:tx>
            <c:rich>
              <a:bodyPr/>
              <a:lstStyle/>
              <a:p>
                <a:pPr>
                  <a:defRPr sz="1000" b="0" i="0" u="none" strike="noStrike">
                    <a:solidFill>
                      <a:srgbClr val="6E7B91"/>
                    </a:solidFill>
                    <a:latin typeface="Arial"/>
                  </a:defRPr>
                </a:pPr>
                <a:r>
                  <a:rPr sz="1000" b="0" i="0" u="none" strike="noStrike">
                    <a:solidFill>
                      <a:srgbClr val="6E7B91"/>
                    </a:solidFill>
                    <a:latin typeface="Arial"/>
                  </a:rPr>
                  <a:t>Rp Miliar</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7B9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Calibri"/>
              </a:defRPr>
            </a:pPr>
            <a:r>
              <a:rPr sz="1300" b="0" i="0" u="none" strike="noStrike">
                <a:solidFill>
                  <a:srgbClr val="0B2545"/>
                </a:solidFill>
                <a:latin typeface="Calibri"/>
              </a:rPr>
              <a:t>Distribusi Toko Fisik</a:t>
            </a:r>
          </a:p>
        </c:rich>
      </c:tx>
      <c:layout/>
      <c:overlay val="0"/>
    </c:title>
    <c:autoTitleDeleted val="0"/>
    <c:plotArea>
      <c:layout/>
      <c:pieChart>
        <c:varyColors val="1"/>
        <c:ser>
          <c:idx val="0"/>
          <c:order val="0"/>
          <c:tx>
            <c:strRef>
              <c:f>Sheet1!$B$1</c:f>
              <c:strCache>
                <c:ptCount val="1"/>
                <c:pt idx="0">
                  <c:v>Toko Fisik</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C0392B"/>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Jawa (10 toko)</c:v>
                </c:pt>
                <c:pt idx="1">
                  <c:v>Luar Jawa (5 toko)</c:v>
                </c:pt>
              </c:strCache>
            </c:strRef>
          </c:cat>
          <c:val>
            <c:numRef>
              <c:f>Sheet1!$B$2:$B$3</c:f>
              <c:numCache>
                <c:ptCount val="2"/>
                <c:pt idx="0">
                  <c:v>10</c:v>
                </c:pt>
                <c:pt idx="1">
                  <c:v>5</c:v>
                </c:pt>
              </c:numCache>
            </c:numRef>
          </c:val>
        </c:ser>
        <c:firstSliceAng val="0"/>
      </c:pieChart>
      <c:spPr>
        <a:noFill/>
        <a:ln>
          <a:noFill/>
        </a:ln>
        <a:effectLst/>
      </c:spPr>
    </c:plotArea>
    <c:legend>
      <c:legendPos val="b"/>
      <c:overlay val="0"/>
      <c:txPr>
        <a:bodyPr/>
        <a:lstStyle/>
        <a:p>
          <a:pPr>
            <a:defRPr sz="1100">
              <a:solidFill>
                <a:srgbClr val="2B3245"/>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Calibri"/>
              </a:defRPr>
            </a:pPr>
            <a:r>
              <a:rPr sz="1300" b="0" i="0" u="none" strike="noStrike">
                <a:solidFill>
                  <a:srgbClr val="0B2545"/>
                </a:solidFill>
                <a:latin typeface="Calibri"/>
              </a:rPr>
              <a:t>Revenue Bulanan (Rp Juta)</a:t>
            </a:r>
          </a:p>
        </c:rich>
      </c:tx>
      <c:layout/>
      <c:overlay val="0"/>
    </c:title>
    <c:autoTitleDeleted val="0"/>
    <c:plotArea>
      <c:layout/>
      <c:lineChart>
        <c:varyColors val="0"/>
        <c:ser>
          <c:idx val="0"/>
          <c:order val="0"/>
          <c:tx>
            <c:strRef>
              <c:f>Sheet1!$B$1</c:f>
              <c:strCache>
                <c:ptCount val="1"/>
                <c:pt idx="0">
                  <c:v>Jawa</c:v>
                </c:pt>
              </c:strCache>
            </c:strRef>
          </c:tx>
          <c:spPr>
            <a:solidFill>
              <a:srgbClr val="065A82"/>
            </a:solidFill>
            <a:ln w="31750" cap="flat">
              <a:solidFill>
                <a:srgbClr val="065A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65A82"/>
              </a:solidFill>
              <a:ln w="9525" cap="flat">
                <a:solidFill>
                  <a:srgbClr val="065A82"/>
                </a:solidFill>
                <a:prstDash val="solid"/>
                <a:round/>
              </a:ln>
              <a:effectLst/>
            </c:spPr>
          </c:marker>
          <c:cat>
            <c:multiLvlStrRef>
              <c:f>Sheet1!$A$2:$A$13</c:f>
              <c:multiLvlStrCache>
                <c:ptCount val="12"/>
                <c:lvl>
                  <c:pt idx="0">
                    <c:v>Jan</c:v>
                  </c:pt>
                  <c:pt idx="1">
                    <c:v>Feb</c:v>
                  </c:pt>
                  <c:pt idx="2">
                    <c:v>Mar</c:v>
                  </c:pt>
                  <c:pt idx="3">
                    <c:v>Apr</c:v>
                  </c:pt>
                  <c:pt idx="4">
                    <c:v>Mei</c:v>
                  </c:pt>
                  <c:pt idx="5">
                    <c:v>Jun</c:v>
                  </c:pt>
                  <c:pt idx="6">
                    <c:v>Jul</c:v>
                  </c:pt>
                  <c:pt idx="7">
                    <c:v>Agu</c:v>
                  </c:pt>
                  <c:pt idx="8">
                    <c:v>Sep</c:v>
                  </c:pt>
                  <c:pt idx="9">
                    <c:v>Okt</c:v>
                  </c:pt>
                  <c:pt idx="10">
                    <c:v>Nov</c:v>
                  </c:pt>
                  <c:pt idx="11">
                    <c:v>Des</c:v>
                  </c:pt>
                </c:lvl>
              </c:multiLvlStrCache>
            </c:multiLvlStrRef>
          </c:cat>
          <c:val>
            <c:numRef>
              <c:f>Sheet1!$B$2:$B$13</c:f>
              <c:numCache>
                <c:formatCode>General</c:formatCode>
                <c:ptCount val="12"/>
                <c:pt idx="0">
                  <c:v>872.5</c:v>
                </c:pt>
                <c:pt idx="1">
                  <c:v>781.8</c:v>
                </c:pt>
                <c:pt idx="2">
                  <c:v>830</c:v>
                </c:pt>
                <c:pt idx="3">
                  <c:v>764.7</c:v>
                </c:pt>
                <c:pt idx="4">
                  <c:v>866.1</c:v>
                </c:pt>
                <c:pt idx="5">
                  <c:v>861.8</c:v>
                </c:pt>
                <c:pt idx="6">
                  <c:v>878.9</c:v>
                </c:pt>
                <c:pt idx="7">
                  <c:v>801.1</c:v>
                </c:pt>
                <c:pt idx="8">
                  <c:v>853.6</c:v>
                </c:pt>
                <c:pt idx="9">
                  <c:v>837</c:v>
                </c:pt>
                <c:pt idx="10">
                  <c:v>861.3</c:v>
                </c:pt>
                <c:pt idx="11">
                  <c:v>886.2</c:v>
                </c:pt>
              </c:numCache>
            </c:numRef>
          </c:val>
          <c:smooth val="0"/>
        </c:ser>
        <c:ser>
          <c:idx val="1"/>
          <c:order val="1"/>
          <c:tx>
            <c:strRef>
              <c:f>Sheet1!$C$1</c:f>
              <c:strCache>
                <c:ptCount val="1"/>
                <c:pt idx="0">
                  <c:v>Luar Jawa</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0392B"/>
              </a:solidFill>
              <a:ln w="9525" cap="flat">
                <a:solidFill>
                  <a:srgbClr val="C0392B"/>
                </a:solidFill>
                <a:prstDash val="solid"/>
                <a:round/>
              </a:ln>
              <a:effectLst/>
            </c:spPr>
          </c:marker>
          <c:cat>
            <c:multiLvlStrRef>
              <c:f>Sheet1!$A$2:$A$13</c:f>
              <c:multiLvlStrCache>
                <c:ptCount val="12"/>
                <c:lvl>
                  <c:pt idx="0">
                    <c:v>Jan</c:v>
                  </c:pt>
                  <c:pt idx="1">
                    <c:v>Feb</c:v>
                  </c:pt>
                  <c:pt idx="2">
                    <c:v>Mar</c:v>
                  </c:pt>
                  <c:pt idx="3">
                    <c:v>Apr</c:v>
                  </c:pt>
                  <c:pt idx="4">
                    <c:v>Mei</c:v>
                  </c:pt>
                  <c:pt idx="5">
                    <c:v>Jun</c:v>
                  </c:pt>
                  <c:pt idx="6">
                    <c:v>Jul</c:v>
                  </c:pt>
                  <c:pt idx="7">
                    <c:v>Agu</c:v>
                  </c:pt>
                  <c:pt idx="8">
                    <c:v>Sep</c:v>
                  </c:pt>
                  <c:pt idx="9">
                    <c:v>Okt</c:v>
                  </c:pt>
                  <c:pt idx="10">
                    <c:v>Nov</c:v>
                  </c:pt>
                  <c:pt idx="11">
                    <c:v>Des</c:v>
                  </c:pt>
                </c:lvl>
              </c:multiLvlStrCache>
            </c:multiLvlStrRef>
          </c:cat>
          <c:val>
            <c:numRef>
              <c:f>Sheet1!$C$2:$C$13</c:f>
              <c:numCache>
                <c:formatCode>General</c:formatCode>
                <c:ptCount val="12"/>
                <c:pt idx="0">
                  <c:v>744.4</c:v>
                </c:pt>
                <c:pt idx="1">
                  <c:v>652.3</c:v>
                </c:pt>
                <c:pt idx="2">
                  <c:v>689.6</c:v>
                </c:pt>
                <c:pt idx="3">
                  <c:v>674.4</c:v>
                </c:pt>
                <c:pt idx="4">
                  <c:v>769</c:v>
                </c:pt>
                <c:pt idx="5">
                  <c:v>746.4</c:v>
                </c:pt>
                <c:pt idx="6">
                  <c:v>795.6</c:v>
                </c:pt>
                <c:pt idx="7">
                  <c:v>737.5</c:v>
                </c:pt>
                <c:pt idx="8">
                  <c:v>700.6</c:v>
                </c:pt>
                <c:pt idx="9">
                  <c:v>727.4</c:v>
                </c:pt>
                <c:pt idx="10">
                  <c:v>734.4</c:v>
                </c:pt>
                <c:pt idx="11">
                  <c:v>708.5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324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B9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B3245"/>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Calibri"/>
              </a:defRPr>
            </a:pPr>
            <a:r>
              <a:rPr sz="1300" b="0" i="0" u="none" strike="noStrike">
                <a:solidFill>
                  <a:srgbClr val="0B2545"/>
                </a:solidFill>
                <a:latin typeface="Calibri"/>
              </a:rPr>
              <a:t>Biaya Pengiriman per Order</a:t>
            </a:r>
          </a:p>
        </c:rich>
      </c:tx>
      <c:layout/>
      <c:overlay val="0"/>
    </c:title>
    <c:autoTitleDeleted val="0"/>
    <c:plotArea>
      <c:layout/>
      <c:barChart>
        <c:barDir val="col"/>
        <c:grouping val="clustered"/>
        <c:varyColors val="0"/>
        <c:ser>
          <c:idx val="0"/>
          <c:order val="0"/>
          <c:tx>
            <c:strRef>
              <c:f>Sheet1!$B$1</c:f>
              <c:strCache>
                <c:ptCount val="1"/>
                <c:pt idx="0">
                  <c:v>Rata-rata Ongkir/Order (Rp)</c:v>
                </c:pt>
              </c:strCache>
            </c:strRef>
          </c:tx>
          <c:spPr>
            <a:solidFill>
              <a:srgbClr val="C0392B"/>
            </a:solidFill>
            <a:effectLst/>
          </c:spPr>
          <c:invertIfNegative val="0"/>
          <c:dLbls>
            <c:numFmt formatCode="#,##0" sourceLinked="0"/>
            <c:txPr>
              <a:bodyPr/>
              <a:lstStyle/>
              <a:p>
                <a:pPr>
                  <a:defRPr b="0" i="0" strike="noStrike" sz="1050" u="none">
                    <a:solidFill>
                      <a:srgbClr val="2B3245"/>
                    </a:solidFill>
                    <a:latin typeface="Arial"/>
                  </a:defRPr>
                </a:pPr>
              </a:p>
            </c:txPr>
            <c:showLegendKey val="0"/>
            <c:showVal val="1"/>
            <c:showCatName val="0"/>
            <c:showSerName val="0"/>
            <c:showPercent val="0"/>
            <c:showBubbleSize val="0"/>
            <c:showLeaderLines val="0"/>
          </c:dLbls>
          <c:cat>
            <c:multiLvlStrRef>
              <c:f>Sheet1!$A$2:$A$4</c:f>
              <c:multiLvlStrCache>
                <c:ptCount val="3"/>
                <c:lvl>
                  <c:pt idx="0">
                    <c:v>Jawa</c:v>
                  </c:pt>
                  <c:pt idx="1">
                    <c:v>Luar Jawa
(ada toko)</c:v>
                  </c:pt>
                  <c:pt idx="2">
                    <c:v>Luar Jawa
(tanpa toko)</c:v>
                  </c:pt>
                </c:lvl>
              </c:multiLvlStrCache>
            </c:multiLvlStrRef>
          </c:cat>
          <c:val>
            <c:numRef>
              <c:f>Sheet1!$B$2:$B$4</c:f>
              <c:numCache>
                <c:formatCode>General</c:formatCode>
                <c:ptCount val="3"/>
                <c:pt idx="0">
                  <c:v>8414</c:v>
                </c:pt>
                <c:pt idx="1">
                  <c:v>16296</c:v>
                </c:pt>
                <c:pt idx="2">
                  <c:v>26058</c:v>
                </c:pt>
              </c:numCache>
            </c:numRef>
          </c:val>
        </c:ser>
        <c:dLbls>
          <c:numFmt formatCode="#,##0" sourceLinked="0"/>
          <c:txPr>
            <a:bodyPr/>
            <a:lstStyle/>
            <a:p>
              <a:pPr>
                <a:defRPr b="0" i="0" strike="noStrike" sz="1050" u="none">
                  <a:solidFill>
                    <a:srgbClr val="2B324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B324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B9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065A82">
              <a:alpha val="45000"/>
            </a:srgbClr>
          </a:solidFill>
          <a:ln/>
        </p:spPr>
      </p:sp>
      <p:sp>
        <p:nvSpPr>
          <p:cNvPr id="3" name="Shape 1"/>
          <p:cNvSpPr/>
          <p:nvPr/>
        </p:nvSpPr>
        <p:spPr>
          <a:xfrm>
            <a:off x="10607040" y="3291840"/>
            <a:ext cx="4114800" cy="4114800"/>
          </a:xfrm>
          <a:prstGeom prst="ellipse">
            <a:avLst/>
          </a:prstGeom>
          <a:solidFill>
            <a:srgbClr val="1C7293">
              <a:alpha val="45000"/>
            </a:srgbClr>
          </a:solidFill>
          <a:ln/>
        </p:spPr>
      </p:sp>
      <p:sp>
        <p:nvSpPr>
          <p:cNvPr id="4" name="Text 2"/>
          <p:cNvSpPr/>
          <p:nvPr/>
        </p:nvSpPr>
        <p:spPr>
          <a:xfrm>
            <a:off x="731520" y="1371600"/>
            <a:ext cx="9144000" cy="365760"/>
          </a:xfrm>
          <a:prstGeom prst="rect">
            <a:avLst/>
          </a:prstGeom>
          <a:noFill/>
          <a:ln/>
        </p:spPr>
        <p:txBody>
          <a:bodyPr wrap="square" rtlCol="0" anchor="ctr"/>
          <a:lstStyle/>
          <a:p>
            <a:pPr indent="0" marL="0">
              <a:buNone/>
            </a:pPr>
            <a:r>
              <a:rPr lang="en-US" sz="1400" b="1" spc="200" kern="0" dirty="0">
                <a:solidFill>
                  <a:srgbClr val="CADCFC"/>
                </a:solidFill>
                <a:latin typeface="Calibri" pitchFamily="34" charset="0"/>
                <a:ea typeface="Calibri" pitchFamily="34" charset="-122"/>
                <a:cs typeface="Calibri" pitchFamily="34" charset="-120"/>
              </a:rPr>
              <a:t>SIMULASI INDUSTRI JUNIOR DATA ANALYST  •  FINAL PROJECT</a:t>
            </a:r>
            <a:endParaRPr lang="en-US" sz="1400" dirty="0"/>
          </a:p>
        </p:txBody>
      </p:sp>
      <p:sp>
        <p:nvSpPr>
          <p:cNvPr id="5" name="Text 3"/>
          <p:cNvSpPr/>
          <p:nvPr/>
        </p:nvSpPr>
        <p:spPr>
          <a:xfrm>
            <a:off x="731520" y="1828800"/>
            <a:ext cx="9601200" cy="1920240"/>
          </a:xfrm>
          <a:prstGeom prst="rect">
            <a:avLst/>
          </a:prstGeom>
          <a:noFill/>
          <a:ln/>
        </p:spPr>
        <p:txBody>
          <a:bodyPr wrap="square"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Regional / Branch</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Performance Analysis</a:t>
            </a:r>
            <a:endParaRPr lang="en-US" sz="4600" dirty="0"/>
          </a:p>
        </p:txBody>
      </p:sp>
      <p:sp>
        <p:nvSpPr>
          <p:cNvPr id="6" name="Text 4"/>
          <p:cNvSpPr/>
          <p:nvPr/>
        </p:nvSpPr>
        <p:spPr>
          <a:xfrm>
            <a:off x="731520" y="3794760"/>
            <a:ext cx="7772400" cy="731520"/>
          </a:xfrm>
          <a:prstGeom prst="rect">
            <a:avLst/>
          </a:prstGeom>
          <a:noFill/>
          <a:ln/>
        </p:spPr>
        <p:txBody>
          <a:bodyPr wrap="square" rtlCol="0" anchor="ctr"/>
          <a:lstStyle/>
          <a:p>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Mengurai ketimpangan performa 90 cabang di 18 provinsi untuk</a:t>
            </a:r>
            <a:endParaRPr lang="en-US" sz="1500" dirty="0"/>
          </a:p>
          <a:p>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menentukan strategi optimalisasi regional yang tepat sasaran.</a:t>
            </a:r>
            <a:endParaRPr lang="en-US" sz="1500" dirty="0"/>
          </a:p>
        </p:txBody>
      </p:sp>
      <p:sp>
        <p:nvSpPr>
          <p:cNvPr id="7" name="Shape 5"/>
          <p:cNvSpPr/>
          <p:nvPr/>
        </p:nvSpPr>
        <p:spPr>
          <a:xfrm>
            <a:off x="731520" y="4892040"/>
            <a:ext cx="2194560" cy="0"/>
          </a:xfrm>
          <a:prstGeom prst="line">
            <a:avLst/>
          </a:prstGeom>
          <a:noFill/>
          <a:ln w="25400">
            <a:solidFill>
              <a:srgbClr val="1C7293"/>
            </a:solidFill>
            <a:prstDash val="solid"/>
          </a:ln>
        </p:spPr>
      </p:sp>
      <p:sp>
        <p:nvSpPr>
          <p:cNvPr id="8" name="Text 6"/>
          <p:cNvSpPr/>
          <p:nvPr/>
        </p:nvSpPr>
        <p:spPr>
          <a:xfrm>
            <a:off x="731520" y="5029200"/>
            <a:ext cx="45720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Abryan Yoga Pratama</a:t>
            </a:r>
            <a:endParaRPr lang="en-US" sz="1400" dirty="0"/>
          </a:p>
        </p:txBody>
      </p:sp>
      <p:sp>
        <p:nvSpPr>
          <p:cNvPr id="9" name="Text 7"/>
          <p:cNvSpPr/>
          <p:nvPr/>
        </p:nvSpPr>
        <p:spPr>
          <a:xfrm>
            <a:off x="731520" y="5349240"/>
            <a:ext cx="5943600" cy="320040"/>
          </a:xfrm>
          <a:prstGeom prst="rect">
            <a:avLst/>
          </a:prstGeom>
          <a:noFill/>
          <a:ln/>
        </p:spPr>
        <p:txBody>
          <a:bodyPr wrap="square" rtlCol="0" anchor="ctr"/>
          <a:lstStyle/>
          <a:p>
            <a:pPr indent="0" marL="0">
              <a:buNone/>
            </a:pPr>
            <a:r>
              <a:rPr lang="en-US" sz="1150" dirty="0">
                <a:solidFill>
                  <a:srgbClr val="9FB3D9"/>
                </a:solidFill>
                <a:latin typeface="Calibri" pitchFamily="34" charset="0"/>
                <a:ea typeface="Calibri" pitchFamily="34" charset="-122"/>
                <a:cs typeface="Calibri" pitchFamily="34" charset="-120"/>
              </a:rPr>
              <a:t>Junior Data Analyst Trainee  |  PT Edusoft Center Teknologi</a:t>
            </a:r>
            <a:endParaRPr lang="en-US" sz="1150" dirty="0"/>
          </a:p>
        </p:txBody>
      </p:sp>
      <p:sp>
        <p:nvSpPr>
          <p:cNvPr id="10" name="Text 8"/>
          <p:cNvSpPr/>
          <p:nvPr/>
        </p:nvSpPr>
        <p:spPr>
          <a:xfrm>
            <a:off x="731520" y="6035040"/>
            <a:ext cx="5486400" cy="274320"/>
          </a:xfrm>
          <a:prstGeom prst="rect">
            <a:avLst/>
          </a:prstGeom>
          <a:noFill/>
          <a:ln/>
        </p:spPr>
        <p:txBody>
          <a:bodyPr wrap="square" rtlCol="0" anchor="ctr"/>
          <a:lstStyle/>
          <a:p>
            <a:pPr indent="0" marL="0">
              <a:buNone/>
            </a:pPr>
            <a:r>
              <a:rPr lang="en-US" sz="1050" dirty="0">
                <a:solidFill>
                  <a:srgbClr val="7C93BC"/>
                </a:solidFill>
                <a:latin typeface="Calibri" pitchFamily="34" charset="0"/>
                <a:ea typeface="Calibri" pitchFamily="34" charset="-122"/>
                <a:cs typeface="Calibri" pitchFamily="34" charset="-120"/>
              </a:rPr>
              <a:t>Final Project Presentation  —  Minggu 2, Hari Selasa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01 · OVERVIEW</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Executive Summary</a:t>
            </a:r>
            <a:endParaRPr lang="en-US" sz="3000" dirty="0"/>
          </a:p>
        </p:txBody>
      </p:sp>
      <p:sp>
        <p:nvSpPr>
          <p:cNvPr id="4" name="Text 2"/>
          <p:cNvSpPr/>
          <p:nvPr/>
        </p:nvSpPr>
        <p:spPr>
          <a:xfrm>
            <a:off x="548640" y="1417320"/>
            <a:ext cx="11091672" cy="1188720"/>
          </a:xfrm>
          <a:prstGeom prst="rect">
            <a:avLst/>
          </a:prstGeom>
          <a:noFill/>
          <a:ln/>
        </p:spPr>
        <p:txBody>
          <a:bodyPr wrap="square" rtlCol="0" anchor="ctr"/>
          <a:lstStyle/>
          <a:p>
            <a:pPr indent="0" marL="0">
              <a:lnSpc>
                <a:spcPct val="130000"/>
              </a:lnSpc>
              <a:buNone/>
            </a:pPr>
            <a:r>
              <a:rPr lang="en-US" sz="1450" dirty="0">
                <a:solidFill>
                  <a:srgbClr val="2B3245"/>
                </a:solidFill>
                <a:latin typeface="Calibri" pitchFamily="34" charset="0"/>
                <a:ea typeface="Calibri" pitchFamily="34" charset="-122"/>
                <a:cs typeface="Calibri" pitchFamily="34" charset="-120"/>
              </a:rPr>
              <a:t>Manajemen mengelola 90 cabang/saluran di 25 kota dan 18 provinsi, namun performa penjualan dan profitabilitas antar wilayah timpang. Analisis atas 55.000 transaksi tahun 2024 menemukan bahwa gap ini bukan soal permintaan pasar, melainkan ketimpangan jaringan toko fisik dan struktur biaya logistik antara Jawa dan Luar Jawa — dua hal yang bisa langsung ditindaklanjuti.</a:t>
            </a:r>
            <a:endParaRPr lang="en-US" sz="1450" dirty="0"/>
          </a:p>
        </p:txBody>
      </p:sp>
      <p:sp>
        <p:nvSpPr>
          <p:cNvPr id="5" name="Shape 3"/>
          <p:cNvSpPr/>
          <p:nvPr/>
        </p:nvSpPr>
        <p:spPr>
          <a:xfrm>
            <a:off x="548640" y="2788920"/>
            <a:ext cx="2567178" cy="1234440"/>
          </a:xfrm>
          <a:prstGeom prst="roundRect">
            <a:avLst>
              <a:gd name="adj" fmla="val 5926"/>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6" name="Text 4"/>
          <p:cNvSpPr/>
          <p:nvPr/>
        </p:nvSpPr>
        <p:spPr>
          <a:xfrm>
            <a:off x="640080" y="2898648"/>
            <a:ext cx="2384298" cy="678942"/>
          </a:xfrm>
          <a:prstGeom prst="rect">
            <a:avLst/>
          </a:prstGeom>
          <a:noFill/>
          <a:ln/>
        </p:spPr>
        <p:txBody>
          <a:bodyPr wrap="square" lIns="0" tIns="0" rIns="0" bIns="0" rtlCol="0" anchor="b"/>
          <a:lstStyle/>
          <a:p>
            <a:pPr algn="l" indent="0" marL="0">
              <a:buNone/>
            </a:pPr>
            <a:r>
              <a:rPr lang="en-US" sz="2400" b="1" dirty="0">
                <a:solidFill>
                  <a:srgbClr val="0B2545"/>
                </a:solidFill>
                <a:latin typeface="Cambria" pitchFamily="34" charset="0"/>
                <a:ea typeface="Cambria" pitchFamily="34" charset="-122"/>
                <a:cs typeface="Cambria" pitchFamily="34" charset="-120"/>
              </a:rPr>
              <a:t>Rp 18,78 M</a:t>
            </a:r>
            <a:endParaRPr lang="en-US" sz="2400" dirty="0"/>
          </a:p>
        </p:txBody>
      </p:sp>
      <p:sp>
        <p:nvSpPr>
          <p:cNvPr id="7" name="Text 5"/>
          <p:cNvSpPr/>
          <p:nvPr/>
        </p:nvSpPr>
        <p:spPr>
          <a:xfrm>
            <a:off x="640080" y="3554273"/>
            <a:ext cx="2384298" cy="432054"/>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Total Revenue Regional 2024</a:t>
            </a:r>
            <a:endParaRPr lang="en-US" sz="1050" dirty="0"/>
          </a:p>
        </p:txBody>
      </p:sp>
      <p:sp>
        <p:nvSpPr>
          <p:cNvPr id="8" name="Shape 6"/>
          <p:cNvSpPr/>
          <p:nvPr/>
        </p:nvSpPr>
        <p:spPr>
          <a:xfrm>
            <a:off x="3390138" y="2788920"/>
            <a:ext cx="2567178" cy="1234440"/>
          </a:xfrm>
          <a:prstGeom prst="roundRect">
            <a:avLst>
              <a:gd name="adj" fmla="val 5926"/>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9" name="Text 7"/>
          <p:cNvSpPr/>
          <p:nvPr/>
        </p:nvSpPr>
        <p:spPr>
          <a:xfrm>
            <a:off x="3481578" y="2898648"/>
            <a:ext cx="2384298" cy="678942"/>
          </a:xfrm>
          <a:prstGeom prst="rect">
            <a:avLst/>
          </a:prstGeom>
          <a:noFill/>
          <a:ln/>
        </p:spPr>
        <p:txBody>
          <a:bodyPr wrap="square" lIns="0" tIns="0" rIns="0" bIns="0" rtlCol="0" anchor="b"/>
          <a:lstStyle/>
          <a:p>
            <a:pPr algn="l" indent="0" marL="0">
              <a:buNone/>
            </a:pPr>
            <a:r>
              <a:rPr lang="en-US" sz="2400" b="1" dirty="0">
                <a:solidFill>
                  <a:srgbClr val="1E8F6F"/>
                </a:solidFill>
                <a:latin typeface="Cambria" pitchFamily="34" charset="0"/>
                <a:ea typeface="Cambria" pitchFamily="34" charset="-122"/>
                <a:cs typeface="Cambria" pitchFamily="34" charset="-120"/>
              </a:rPr>
              <a:t>Rp 8,62 M</a:t>
            </a:r>
            <a:endParaRPr lang="en-US" sz="2400" dirty="0"/>
          </a:p>
        </p:txBody>
      </p:sp>
      <p:sp>
        <p:nvSpPr>
          <p:cNvPr id="10" name="Text 8"/>
          <p:cNvSpPr/>
          <p:nvPr/>
        </p:nvSpPr>
        <p:spPr>
          <a:xfrm>
            <a:off x="3481578" y="3554273"/>
            <a:ext cx="2384298" cy="432054"/>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Total Regional Profit</a:t>
            </a:r>
            <a:endParaRPr lang="en-US" sz="1050" dirty="0"/>
          </a:p>
        </p:txBody>
      </p:sp>
      <p:sp>
        <p:nvSpPr>
          <p:cNvPr id="11" name="Shape 9"/>
          <p:cNvSpPr/>
          <p:nvPr/>
        </p:nvSpPr>
        <p:spPr>
          <a:xfrm>
            <a:off x="6231636" y="2788920"/>
            <a:ext cx="2567178" cy="1234440"/>
          </a:xfrm>
          <a:prstGeom prst="roundRect">
            <a:avLst>
              <a:gd name="adj" fmla="val 5926"/>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12" name="Text 10"/>
          <p:cNvSpPr/>
          <p:nvPr/>
        </p:nvSpPr>
        <p:spPr>
          <a:xfrm>
            <a:off x="6323076" y="2898648"/>
            <a:ext cx="2384298" cy="678942"/>
          </a:xfrm>
          <a:prstGeom prst="rect">
            <a:avLst/>
          </a:prstGeom>
          <a:noFill/>
          <a:ln/>
        </p:spPr>
        <p:txBody>
          <a:bodyPr wrap="square" lIns="0" tIns="0" rIns="0" bIns="0" rtlCol="0" anchor="b"/>
          <a:lstStyle/>
          <a:p>
            <a:pPr algn="l" indent="0" marL="0">
              <a:buNone/>
            </a:pPr>
            <a:r>
              <a:rPr lang="en-US" sz="2400" b="1" dirty="0">
                <a:solidFill>
                  <a:srgbClr val="065A82"/>
                </a:solidFill>
                <a:latin typeface="Cambria" pitchFamily="34" charset="0"/>
                <a:ea typeface="Cambria" pitchFamily="34" charset="-122"/>
                <a:cs typeface="Cambria" pitchFamily="34" charset="-120"/>
              </a:rPr>
              <a:t>41,97%</a:t>
            </a:r>
            <a:endParaRPr lang="en-US" sz="2400" dirty="0"/>
          </a:p>
        </p:txBody>
      </p:sp>
      <p:sp>
        <p:nvSpPr>
          <p:cNvPr id="13" name="Text 11"/>
          <p:cNvSpPr/>
          <p:nvPr/>
        </p:nvSpPr>
        <p:spPr>
          <a:xfrm>
            <a:off x="6323076" y="3554273"/>
            <a:ext cx="2384298" cy="432054"/>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Average Margin per Branch</a:t>
            </a:r>
            <a:endParaRPr lang="en-US" sz="1050" dirty="0"/>
          </a:p>
        </p:txBody>
      </p:sp>
      <p:sp>
        <p:nvSpPr>
          <p:cNvPr id="14" name="Shape 12"/>
          <p:cNvSpPr/>
          <p:nvPr/>
        </p:nvSpPr>
        <p:spPr>
          <a:xfrm>
            <a:off x="9073134" y="2788920"/>
            <a:ext cx="2567178" cy="1234440"/>
          </a:xfrm>
          <a:prstGeom prst="roundRect">
            <a:avLst>
              <a:gd name="adj" fmla="val 5926"/>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15" name="Text 13"/>
          <p:cNvSpPr/>
          <p:nvPr/>
        </p:nvSpPr>
        <p:spPr>
          <a:xfrm>
            <a:off x="9164574" y="2898648"/>
            <a:ext cx="2384298" cy="678942"/>
          </a:xfrm>
          <a:prstGeom prst="rect">
            <a:avLst/>
          </a:prstGeom>
          <a:noFill/>
          <a:ln/>
        </p:spPr>
        <p:txBody>
          <a:bodyPr wrap="square" lIns="0" tIns="0" rIns="0" bIns="0" rtlCol="0" anchor="b"/>
          <a:lstStyle/>
          <a:p>
            <a:pPr algn="l" indent="0" marL="0">
              <a:buNone/>
            </a:pPr>
            <a:r>
              <a:rPr lang="en-US" sz="2400" b="1" dirty="0">
                <a:solidFill>
                  <a:srgbClr val="1C7293"/>
                </a:solidFill>
                <a:latin typeface="Cambria" pitchFamily="34" charset="0"/>
                <a:ea typeface="Cambria" pitchFamily="34" charset="-122"/>
                <a:cs typeface="Cambria" pitchFamily="34" charset="-120"/>
              </a:rPr>
              <a:t>90 / 25 / 18</a:t>
            </a:r>
            <a:endParaRPr lang="en-US" sz="2400" dirty="0"/>
          </a:p>
        </p:txBody>
      </p:sp>
      <p:sp>
        <p:nvSpPr>
          <p:cNvPr id="16" name="Text 14"/>
          <p:cNvSpPr/>
          <p:nvPr/>
        </p:nvSpPr>
        <p:spPr>
          <a:xfrm>
            <a:off x="9164574" y="3554273"/>
            <a:ext cx="2384298" cy="432054"/>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Cabang / Kota / Provinsi</a:t>
            </a:r>
            <a:endParaRPr lang="en-US" sz="1050" dirty="0"/>
          </a:p>
        </p:txBody>
      </p:sp>
      <p:sp>
        <p:nvSpPr>
          <p:cNvPr id="17" name="Shape 15"/>
          <p:cNvSpPr/>
          <p:nvPr/>
        </p:nvSpPr>
        <p:spPr>
          <a:xfrm>
            <a:off x="548640" y="4343400"/>
            <a:ext cx="11091672" cy="1737360"/>
          </a:xfrm>
          <a:prstGeom prst="roundRect">
            <a:avLst>
              <a:gd name="adj" fmla="val 4211"/>
            </a:avLst>
          </a:prstGeom>
          <a:solidFill>
            <a:srgbClr val="F4F7FC"/>
          </a:solidFill>
          <a:ln/>
        </p:spPr>
      </p:sp>
      <p:sp>
        <p:nvSpPr>
          <p:cNvPr id="18" name="Text 16"/>
          <p:cNvSpPr/>
          <p:nvPr/>
        </p:nvSpPr>
        <p:spPr>
          <a:xfrm>
            <a:off x="822960" y="4526280"/>
            <a:ext cx="3657600" cy="32004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Temuan Inti</a:t>
            </a:r>
            <a:endParaRPr lang="en-US" sz="1300" dirty="0"/>
          </a:p>
        </p:txBody>
      </p:sp>
      <p:sp>
        <p:nvSpPr>
          <p:cNvPr id="19" name="Text 17"/>
          <p:cNvSpPr/>
          <p:nvPr/>
        </p:nvSpPr>
        <p:spPr>
          <a:xfrm>
            <a:off x="822960" y="4846320"/>
            <a:ext cx="10543032" cy="1143000"/>
          </a:xfrm>
          <a:prstGeom prst="rect">
            <a:avLst/>
          </a:prstGeom>
          <a:noFill/>
          <a:ln/>
        </p:spPr>
        <p:txBody>
          <a:bodyPr wrap="square" rtlCol="0" anchor="ctr"/>
          <a:lstStyle/>
          <a:p>
            <a:pPr marL="342900" indent="-342900">
              <a:lnSpc>
                <a:spcPct val="115000"/>
              </a:lnSpc>
              <a:spcAft>
                <a:spcPts val="600"/>
              </a:spcAft>
              <a:buSzPct val="100000"/>
              <a:buChar char="•"/>
            </a:pPr>
            <a:r>
              <a:rPr lang="en-US" sz="1250" dirty="0">
                <a:solidFill>
                  <a:srgbClr val="2B3245"/>
                </a:solidFill>
                <a:latin typeface="Calibri" pitchFamily="34" charset="0"/>
                <a:ea typeface="Calibri" pitchFamily="34" charset="-122"/>
                <a:cs typeface="Calibri" pitchFamily="34" charset="-120"/>
              </a:rPr>
              <a:t>Jawa menyumbang 53,8% revenue dengan hanya 6 provinsi — Luar Jawa 46,2% dari 12 provinsi.</a:t>
            </a:r>
            <a:endParaRPr lang="en-US" sz="1250" dirty="0"/>
          </a:p>
          <a:p>
            <a:pPr marL="342900" indent="-342900">
              <a:lnSpc>
                <a:spcPct val="115000"/>
              </a:lnSpc>
              <a:spcAft>
                <a:spcPts val="600"/>
              </a:spcAft>
              <a:buSzPct val="100000"/>
              <a:buChar char="•"/>
            </a:pPr>
            <a:r>
              <a:rPr lang="en-US" sz="1250" dirty="0">
                <a:solidFill>
                  <a:srgbClr val="2B3245"/>
                </a:solidFill>
                <a:latin typeface="Calibri" pitchFamily="34" charset="0"/>
                <a:ea typeface="Calibri" pitchFamily="34" charset="-122"/>
                <a:cs typeface="Calibri" pitchFamily="34" charset="-120"/>
              </a:rPr>
              <a:t>Margin Luar Jawa 4,3 poin lebih rendah akibat ongkir hingga 3x lipat Jawa.</a:t>
            </a:r>
            <a:endParaRPr lang="en-US" sz="1250" dirty="0"/>
          </a:p>
          <a:p>
            <a:pPr marL="342900" indent="-342900">
              <a:lnSpc>
                <a:spcPct val="115000"/>
              </a:lnSpc>
              <a:spcAft>
                <a:spcPts val="600"/>
              </a:spcAft>
              <a:buSzPct val="100000"/>
              <a:buChar char="•"/>
            </a:pPr>
            <a:r>
              <a:rPr lang="en-US" sz="1250" dirty="0">
                <a:solidFill>
                  <a:srgbClr val="2B3245"/>
                </a:solidFill>
                <a:latin typeface="Calibri" pitchFamily="34" charset="0"/>
                <a:ea typeface="Calibri" pitchFamily="34" charset="-122"/>
                <a:cs typeface="Calibri" pitchFamily="34" charset="-120"/>
              </a:rPr>
              <a:t>Tren Luar Jawa menurun -4,8% sepanjang 2024, sementara Jawa masih tumbuh +1,6%.</a:t>
            </a:r>
            <a:endParaRPr lang="en-US" sz="1250" dirty="0"/>
          </a:p>
        </p:txBody>
      </p:sp>
      <p:sp>
        <p:nvSpPr>
          <p:cNvPr id="20" name="Text 18"/>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21" name="Text 19"/>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02 · KONTEKS</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Business Problem</a:t>
            </a:r>
            <a:endParaRPr lang="en-US" sz="3000" dirty="0"/>
          </a:p>
        </p:txBody>
      </p:sp>
      <p:sp>
        <p:nvSpPr>
          <p:cNvPr id="4" name="Shape 2"/>
          <p:cNvSpPr/>
          <p:nvPr/>
        </p:nvSpPr>
        <p:spPr>
          <a:xfrm>
            <a:off x="548640" y="1554480"/>
            <a:ext cx="6309360" cy="4480560"/>
          </a:xfrm>
          <a:prstGeom prst="roundRect">
            <a:avLst>
              <a:gd name="adj" fmla="val 1633"/>
            </a:avLst>
          </a:prstGeom>
          <a:solidFill>
            <a:srgbClr val="F4F7FC"/>
          </a:solidFill>
          <a:ln/>
        </p:spPr>
      </p:sp>
      <p:sp>
        <p:nvSpPr>
          <p:cNvPr id="5" name="Text 3"/>
          <p:cNvSpPr/>
          <p:nvPr/>
        </p:nvSpPr>
        <p:spPr>
          <a:xfrm>
            <a:off x="868680" y="1783080"/>
            <a:ext cx="5669280" cy="822960"/>
          </a:xfrm>
          <a:prstGeom prst="rect">
            <a:avLst/>
          </a:prstGeom>
          <a:noFill/>
          <a:ln/>
        </p:spPr>
        <p:txBody>
          <a:bodyPr wrap="square" rtlCol="0" anchor="ctr"/>
          <a:lstStyle/>
          <a:p>
            <a:pPr indent="0" marL="0">
              <a:lnSpc>
                <a:spcPct val="125000"/>
              </a:lnSpc>
              <a:buNone/>
            </a:pPr>
            <a:r>
              <a:rPr lang="en-US" sz="1400" dirty="0">
                <a:solidFill>
                  <a:srgbClr val="2B3245"/>
                </a:solidFill>
                <a:latin typeface="Calibri" pitchFamily="34" charset="0"/>
                <a:ea typeface="Calibri" pitchFamily="34" charset="-122"/>
                <a:cs typeface="Calibri" pitchFamily="34" charset="-120"/>
              </a:rPr>
              <a:t>Perusahaan memiliki 90 cabang/saluran operasional yang tersebar di 25 kota dan 18 provinsi di Indonesia.</a:t>
            </a:r>
            <a:endParaRPr lang="en-US" sz="1400" dirty="0"/>
          </a:p>
        </p:txBody>
      </p:sp>
      <p:sp>
        <p:nvSpPr>
          <p:cNvPr id="6" name="Text 4"/>
          <p:cNvSpPr/>
          <p:nvPr/>
        </p:nvSpPr>
        <p:spPr>
          <a:xfrm>
            <a:off x="868680" y="2697480"/>
            <a:ext cx="5669280" cy="1828800"/>
          </a:xfrm>
          <a:prstGeom prst="rect">
            <a:avLst/>
          </a:prstGeom>
          <a:noFill/>
          <a:ln/>
        </p:spPr>
        <p:txBody>
          <a:bodyPr wrap="square" rtlCol="0" anchor="ctr"/>
          <a:lstStyle/>
          <a:p>
            <a:pPr marL="342900" indent="-342900">
              <a:lnSpc>
                <a:spcPct val="125000"/>
              </a:lnSpc>
              <a:spcAft>
                <a:spcPts val="1000"/>
              </a:spcAft>
              <a:buSzPct val="100000"/>
              <a:buChar char="•"/>
            </a:pPr>
            <a:r>
              <a:rPr lang="en-US" sz="1300" dirty="0">
                <a:solidFill>
                  <a:srgbClr val="2B3245"/>
                </a:solidFill>
                <a:latin typeface="Calibri" pitchFamily="34" charset="0"/>
                <a:ea typeface="Calibri" pitchFamily="34" charset="-122"/>
                <a:cs typeface="Calibri" pitchFamily="34" charset="-120"/>
              </a:rPr>
              <a:t>Terdapat perbedaan performa penjualan dan profitabilitas yang signifikan antar wilayah/cabang.</a:t>
            </a:r>
            <a:endParaRPr lang="en-US" sz="1300" dirty="0"/>
          </a:p>
          <a:p>
            <a:pPr marL="342900" indent="-342900">
              <a:lnSpc>
                <a:spcPct val="125000"/>
              </a:lnSpc>
              <a:spcAft>
                <a:spcPts val="1000"/>
              </a:spcAft>
              <a:buSzPct val="100000"/>
              <a:buChar char="•"/>
            </a:pPr>
            <a:r>
              <a:rPr lang="en-US" sz="1300" dirty="0">
                <a:solidFill>
                  <a:srgbClr val="2B3245"/>
                </a:solidFill>
                <a:latin typeface="Calibri" pitchFamily="34" charset="0"/>
                <a:ea typeface="Calibri" pitchFamily="34" charset="-122"/>
                <a:cs typeface="Calibri" pitchFamily="34" charset="-120"/>
              </a:rPr>
              <a:t>Muncul ketidakseimbangan kontribusi revenue antar provinsi — sebagian wilayah jauh tertinggal.</a:t>
            </a:r>
            <a:endParaRPr lang="en-US" sz="1300" dirty="0"/>
          </a:p>
          <a:p>
            <a:pPr marL="342900" indent="-342900">
              <a:lnSpc>
                <a:spcPct val="125000"/>
              </a:lnSpc>
              <a:spcAft>
                <a:spcPts val="1000"/>
              </a:spcAft>
              <a:buSzPct val="100000"/>
              <a:buChar char="•"/>
            </a:pPr>
            <a:r>
              <a:rPr lang="en-US" sz="1300" dirty="0">
                <a:solidFill>
                  <a:srgbClr val="2B3245"/>
                </a:solidFill>
                <a:latin typeface="Calibri" pitchFamily="34" charset="0"/>
                <a:ea typeface="Calibri" pitchFamily="34" charset="-122"/>
                <a:cs typeface="Calibri" pitchFamily="34" charset="-120"/>
              </a:rPr>
              <a:t>Manajemen memerlukan evaluasi menyeluruh untuk menentukan efisiensi alokasi sumber daya.</a:t>
            </a:r>
            <a:endParaRPr lang="en-US" sz="1300" dirty="0"/>
          </a:p>
        </p:txBody>
      </p:sp>
      <p:sp>
        <p:nvSpPr>
          <p:cNvPr id="7" name="Shape 5"/>
          <p:cNvSpPr/>
          <p:nvPr/>
        </p:nvSpPr>
        <p:spPr>
          <a:xfrm>
            <a:off x="868680" y="4709160"/>
            <a:ext cx="5669280" cy="1097280"/>
          </a:xfrm>
          <a:prstGeom prst="roundRect">
            <a:avLst>
              <a:gd name="adj" fmla="val 5000"/>
            </a:avLst>
          </a:prstGeom>
          <a:solidFill>
            <a:srgbClr val="0B2545"/>
          </a:solidFill>
          <a:ln/>
        </p:spPr>
      </p:sp>
      <p:sp>
        <p:nvSpPr>
          <p:cNvPr id="8" name="Text 6"/>
          <p:cNvSpPr/>
          <p:nvPr/>
        </p:nvSpPr>
        <p:spPr>
          <a:xfrm>
            <a:off x="1051560" y="4800600"/>
            <a:ext cx="5303520" cy="914400"/>
          </a:xfrm>
          <a:prstGeom prst="rect">
            <a:avLst/>
          </a:prstGeom>
          <a:noFill/>
          <a:ln/>
        </p:spPr>
        <p:txBody>
          <a:bodyPr wrap="square" rtlCol="0" anchor="ctr"/>
          <a:lstStyle/>
          <a:p>
            <a:pPr indent="0" marL="0">
              <a:buNone/>
            </a:pPr>
            <a:r>
              <a:rPr lang="en-US" sz="1350" i="1" dirty="0">
                <a:solidFill>
                  <a:srgbClr val="FFFFFF"/>
                </a:solidFill>
                <a:latin typeface="Cambria" pitchFamily="34" charset="0"/>
                <a:ea typeface="Cambria" pitchFamily="34" charset="-122"/>
                <a:cs typeface="Cambria" pitchFamily="34" charset="-120"/>
              </a:rPr>
              <a:t>“Mengapa cabang di sebagian besar wilayah tampak selalu kalah dari cabang di Jawa?”</a:t>
            </a:r>
            <a:endParaRPr lang="en-US" sz="1350" dirty="0"/>
          </a:p>
        </p:txBody>
      </p:sp>
      <p:sp>
        <p:nvSpPr>
          <p:cNvPr id="9" name="Shape 7"/>
          <p:cNvSpPr/>
          <p:nvPr/>
        </p:nvSpPr>
        <p:spPr>
          <a:xfrm>
            <a:off x="7086600" y="1554480"/>
            <a:ext cx="4553712" cy="932688"/>
          </a:xfrm>
          <a:prstGeom prst="roundRect">
            <a:avLst>
              <a:gd name="adj" fmla="val 7843"/>
            </a:avLst>
          </a:prstGeom>
          <a:solidFill>
            <a:srgbClr val="FFFFFF"/>
          </a:solidFill>
          <a:ln w="12700">
            <a:solidFill>
              <a:srgbClr val="E3E9F2"/>
            </a:solidFill>
            <a:prstDash val="solid"/>
          </a:ln>
        </p:spPr>
      </p:sp>
      <p:sp>
        <p:nvSpPr>
          <p:cNvPr id="10" name="Text 8"/>
          <p:cNvSpPr/>
          <p:nvPr/>
        </p:nvSpPr>
        <p:spPr>
          <a:xfrm>
            <a:off x="7269480" y="1627632"/>
            <a:ext cx="2011680" cy="50292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55.000</a:t>
            </a:r>
            <a:endParaRPr lang="en-US" sz="2200" dirty="0"/>
          </a:p>
        </p:txBody>
      </p:sp>
      <p:sp>
        <p:nvSpPr>
          <p:cNvPr id="11" name="Text 9"/>
          <p:cNvSpPr/>
          <p:nvPr/>
        </p:nvSpPr>
        <p:spPr>
          <a:xfrm>
            <a:off x="7269480" y="2103120"/>
            <a:ext cx="4206240" cy="320040"/>
          </a:xfrm>
          <a:prstGeom prst="rect">
            <a:avLst/>
          </a:prstGeom>
          <a:noFill/>
          <a:ln/>
        </p:spPr>
        <p:txBody>
          <a:bodyPr wrap="square" lIns="0" tIns="0" rIns="0" bIns="0" rtlCol="0" anchor="ctr"/>
          <a:lstStyle/>
          <a:p>
            <a:pPr indent="0" marL="0">
              <a:buNone/>
            </a:pPr>
            <a:r>
              <a:rPr lang="en-US" sz="1100" dirty="0">
                <a:solidFill>
                  <a:srgbClr val="6E7B91"/>
                </a:solidFill>
                <a:latin typeface="Calibri" pitchFamily="34" charset="0"/>
                <a:ea typeface="Calibri" pitchFamily="34" charset="-122"/>
                <a:cs typeface="Calibri" pitchFamily="34" charset="-120"/>
              </a:rPr>
              <a:t>Transaksi dianalisis</a:t>
            </a:r>
            <a:endParaRPr lang="en-US" sz="1100" dirty="0"/>
          </a:p>
        </p:txBody>
      </p:sp>
      <p:sp>
        <p:nvSpPr>
          <p:cNvPr id="12" name="Shape 10"/>
          <p:cNvSpPr/>
          <p:nvPr/>
        </p:nvSpPr>
        <p:spPr>
          <a:xfrm>
            <a:off x="7086600" y="2651760"/>
            <a:ext cx="4553712" cy="932688"/>
          </a:xfrm>
          <a:prstGeom prst="roundRect">
            <a:avLst>
              <a:gd name="adj" fmla="val 7843"/>
            </a:avLst>
          </a:prstGeom>
          <a:solidFill>
            <a:srgbClr val="FFFFFF"/>
          </a:solidFill>
          <a:ln w="12700">
            <a:solidFill>
              <a:srgbClr val="E3E9F2"/>
            </a:solidFill>
            <a:prstDash val="solid"/>
          </a:ln>
        </p:spPr>
      </p:sp>
      <p:sp>
        <p:nvSpPr>
          <p:cNvPr id="13" name="Text 11"/>
          <p:cNvSpPr/>
          <p:nvPr/>
        </p:nvSpPr>
        <p:spPr>
          <a:xfrm>
            <a:off x="7269480" y="2724912"/>
            <a:ext cx="2011680" cy="50292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2024</a:t>
            </a:r>
            <a:endParaRPr lang="en-US" sz="2200" dirty="0"/>
          </a:p>
        </p:txBody>
      </p:sp>
      <p:sp>
        <p:nvSpPr>
          <p:cNvPr id="14" name="Text 12"/>
          <p:cNvSpPr/>
          <p:nvPr/>
        </p:nvSpPr>
        <p:spPr>
          <a:xfrm>
            <a:off x="7269480" y="3200400"/>
            <a:ext cx="4206240" cy="320040"/>
          </a:xfrm>
          <a:prstGeom prst="rect">
            <a:avLst/>
          </a:prstGeom>
          <a:noFill/>
          <a:ln/>
        </p:spPr>
        <p:txBody>
          <a:bodyPr wrap="square" lIns="0" tIns="0" rIns="0" bIns="0" rtlCol="0" anchor="ctr"/>
          <a:lstStyle/>
          <a:p>
            <a:pPr indent="0" marL="0">
              <a:buNone/>
            </a:pPr>
            <a:r>
              <a:rPr lang="en-US" sz="1100" dirty="0">
                <a:solidFill>
                  <a:srgbClr val="6E7B91"/>
                </a:solidFill>
                <a:latin typeface="Calibri" pitchFamily="34" charset="0"/>
                <a:ea typeface="Calibri" pitchFamily="34" charset="-122"/>
                <a:cs typeface="Calibri" pitchFamily="34" charset="-120"/>
              </a:rPr>
              <a:t>Periode data (Jan–Des)</a:t>
            </a:r>
            <a:endParaRPr lang="en-US" sz="1100" dirty="0"/>
          </a:p>
        </p:txBody>
      </p:sp>
      <p:sp>
        <p:nvSpPr>
          <p:cNvPr id="15" name="Shape 13"/>
          <p:cNvSpPr/>
          <p:nvPr/>
        </p:nvSpPr>
        <p:spPr>
          <a:xfrm>
            <a:off x="7086600" y="3749040"/>
            <a:ext cx="4553712" cy="932688"/>
          </a:xfrm>
          <a:prstGeom prst="roundRect">
            <a:avLst>
              <a:gd name="adj" fmla="val 7843"/>
            </a:avLst>
          </a:prstGeom>
          <a:solidFill>
            <a:srgbClr val="FFFFFF"/>
          </a:solidFill>
          <a:ln w="12700">
            <a:solidFill>
              <a:srgbClr val="E3E9F2"/>
            </a:solidFill>
            <a:prstDash val="solid"/>
          </a:ln>
        </p:spPr>
      </p:sp>
      <p:sp>
        <p:nvSpPr>
          <p:cNvPr id="16" name="Text 14"/>
          <p:cNvSpPr/>
          <p:nvPr/>
        </p:nvSpPr>
        <p:spPr>
          <a:xfrm>
            <a:off x="7269480" y="3822192"/>
            <a:ext cx="2011680" cy="50292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18</a:t>
            </a:r>
            <a:endParaRPr lang="en-US" sz="2200" dirty="0"/>
          </a:p>
        </p:txBody>
      </p:sp>
      <p:sp>
        <p:nvSpPr>
          <p:cNvPr id="17" name="Text 15"/>
          <p:cNvSpPr/>
          <p:nvPr/>
        </p:nvSpPr>
        <p:spPr>
          <a:xfrm>
            <a:off x="7269480" y="4297680"/>
            <a:ext cx="4206240" cy="320040"/>
          </a:xfrm>
          <a:prstGeom prst="rect">
            <a:avLst/>
          </a:prstGeom>
          <a:noFill/>
          <a:ln/>
        </p:spPr>
        <p:txBody>
          <a:bodyPr wrap="square" lIns="0" tIns="0" rIns="0" bIns="0" rtlCol="0" anchor="ctr"/>
          <a:lstStyle/>
          <a:p>
            <a:pPr indent="0" marL="0">
              <a:buNone/>
            </a:pPr>
            <a:r>
              <a:rPr lang="en-US" sz="1100" dirty="0">
                <a:solidFill>
                  <a:srgbClr val="6E7B91"/>
                </a:solidFill>
                <a:latin typeface="Calibri" pitchFamily="34" charset="0"/>
                <a:ea typeface="Calibri" pitchFamily="34" charset="-122"/>
                <a:cs typeface="Calibri" pitchFamily="34" charset="-120"/>
              </a:rPr>
              <a:t>Provinsi tercakup</a:t>
            </a:r>
            <a:endParaRPr lang="en-US" sz="1100" dirty="0"/>
          </a:p>
        </p:txBody>
      </p:sp>
      <p:sp>
        <p:nvSpPr>
          <p:cNvPr id="18" name="Shape 16"/>
          <p:cNvSpPr/>
          <p:nvPr/>
        </p:nvSpPr>
        <p:spPr>
          <a:xfrm>
            <a:off x="7086600" y="4846320"/>
            <a:ext cx="4553712" cy="932688"/>
          </a:xfrm>
          <a:prstGeom prst="roundRect">
            <a:avLst>
              <a:gd name="adj" fmla="val 7843"/>
            </a:avLst>
          </a:prstGeom>
          <a:solidFill>
            <a:srgbClr val="FFFFFF"/>
          </a:solidFill>
          <a:ln w="12700">
            <a:solidFill>
              <a:srgbClr val="E3E9F2"/>
            </a:solidFill>
            <a:prstDash val="solid"/>
          </a:ln>
        </p:spPr>
      </p:sp>
      <p:sp>
        <p:nvSpPr>
          <p:cNvPr id="19" name="Text 17"/>
          <p:cNvSpPr/>
          <p:nvPr/>
        </p:nvSpPr>
        <p:spPr>
          <a:xfrm>
            <a:off x="7269480" y="4919472"/>
            <a:ext cx="2011680" cy="50292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90</a:t>
            </a:r>
            <a:endParaRPr lang="en-US" sz="2200" dirty="0"/>
          </a:p>
        </p:txBody>
      </p:sp>
      <p:sp>
        <p:nvSpPr>
          <p:cNvPr id="20" name="Text 18"/>
          <p:cNvSpPr/>
          <p:nvPr/>
        </p:nvSpPr>
        <p:spPr>
          <a:xfrm>
            <a:off x="7269480" y="5394960"/>
            <a:ext cx="4206240" cy="320040"/>
          </a:xfrm>
          <a:prstGeom prst="rect">
            <a:avLst/>
          </a:prstGeom>
          <a:noFill/>
          <a:ln/>
        </p:spPr>
        <p:txBody>
          <a:bodyPr wrap="square" lIns="0" tIns="0" rIns="0" bIns="0" rtlCol="0" anchor="ctr"/>
          <a:lstStyle/>
          <a:p>
            <a:pPr indent="0" marL="0">
              <a:buNone/>
            </a:pPr>
            <a:r>
              <a:rPr lang="en-US" sz="1100" dirty="0">
                <a:solidFill>
                  <a:srgbClr val="6E7B91"/>
                </a:solidFill>
                <a:latin typeface="Calibri" pitchFamily="34" charset="0"/>
                <a:ea typeface="Calibri" pitchFamily="34" charset="-122"/>
                <a:cs typeface="Calibri" pitchFamily="34" charset="-120"/>
              </a:rPr>
              <a:t>Cabang / store</a:t>
            </a:r>
            <a:endParaRPr lang="en-US" sz="1100" dirty="0"/>
          </a:p>
        </p:txBody>
      </p:sp>
      <p:sp>
        <p:nvSpPr>
          <p:cNvPr id="21" name="Text 19"/>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22" name="Text 20"/>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03 · TUJUAN</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Business Objective</a:t>
            </a:r>
            <a:endParaRPr lang="en-US" sz="3000" dirty="0"/>
          </a:p>
        </p:txBody>
      </p:sp>
      <p:sp>
        <p:nvSpPr>
          <p:cNvPr id="4" name="Shape 2"/>
          <p:cNvSpPr/>
          <p:nvPr/>
        </p:nvSpPr>
        <p:spPr>
          <a:xfrm>
            <a:off x="548640" y="1691640"/>
            <a:ext cx="3453384" cy="2743200"/>
          </a:xfrm>
          <a:prstGeom prst="roundRect">
            <a:avLst>
              <a:gd name="adj" fmla="val 3333"/>
            </a:avLst>
          </a:prstGeom>
          <a:solidFill>
            <a:srgbClr val="F4F7FC"/>
          </a:solidFill>
          <a:ln/>
        </p:spPr>
      </p:sp>
      <p:sp>
        <p:nvSpPr>
          <p:cNvPr id="5" name="Shape 3"/>
          <p:cNvSpPr/>
          <p:nvPr/>
        </p:nvSpPr>
        <p:spPr>
          <a:xfrm>
            <a:off x="822960" y="1965960"/>
            <a:ext cx="457200" cy="457200"/>
          </a:xfrm>
          <a:prstGeom prst="ellipse">
            <a:avLst/>
          </a:prstGeom>
          <a:solidFill>
            <a:srgbClr val="065A82"/>
          </a:solidFill>
          <a:ln/>
        </p:spPr>
      </p:sp>
      <p:sp>
        <p:nvSpPr>
          <p:cNvPr id="6" name="Text 4"/>
          <p:cNvSpPr txBox="1"/>
          <p:nvPr/>
        </p:nvSpPr>
        <p:spPr>
          <a:xfrm>
            <a:off x="82296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22960" y="2560320"/>
            <a:ext cx="2904744" cy="548640"/>
          </a:xfrm>
          <a:prstGeom prst="rect">
            <a:avLst/>
          </a:prstGeom>
          <a:noFill/>
          <a:ln/>
        </p:spPr>
        <p:txBody>
          <a:bodyPr wrap="square"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Identifikasi Performa</a:t>
            </a:r>
            <a:endParaRPr lang="en-US" sz="1600" dirty="0"/>
          </a:p>
        </p:txBody>
      </p:sp>
      <p:sp>
        <p:nvSpPr>
          <p:cNvPr id="8" name="Text 6"/>
          <p:cNvSpPr/>
          <p:nvPr/>
        </p:nvSpPr>
        <p:spPr>
          <a:xfrm>
            <a:off x="822960" y="3108960"/>
            <a:ext cx="2904744" cy="1234440"/>
          </a:xfrm>
          <a:prstGeom prst="rect">
            <a:avLst/>
          </a:prstGeom>
          <a:noFill/>
          <a:ln/>
        </p:spPr>
        <p:txBody>
          <a:bodyPr wrap="square" rtlCol="0" anchor="ctr"/>
          <a:lstStyle/>
          <a:p>
            <a:pPr indent="0" marL="0">
              <a:lnSpc>
                <a:spcPct val="125000"/>
              </a:lnSpc>
              <a:buNone/>
            </a:pPr>
            <a:r>
              <a:rPr lang="en-US" sz="1200" dirty="0">
                <a:solidFill>
                  <a:srgbClr val="2B3245"/>
                </a:solidFill>
                <a:latin typeface="Calibri" pitchFamily="34" charset="0"/>
                <a:ea typeface="Calibri" pitchFamily="34" charset="-122"/>
                <a:cs typeface="Calibri" pitchFamily="34" charset="-120"/>
              </a:rPr>
              <a:t>Mengidentifikasi cabang dan wilayah dengan performa tertinggi dan terendah secara objektif berbasis data.</a:t>
            </a:r>
            <a:endParaRPr lang="en-US" sz="1200" dirty="0"/>
          </a:p>
        </p:txBody>
      </p:sp>
      <p:sp>
        <p:nvSpPr>
          <p:cNvPr id="9" name="Shape 7"/>
          <p:cNvSpPr/>
          <p:nvPr/>
        </p:nvSpPr>
        <p:spPr>
          <a:xfrm>
            <a:off x="4367784" y="1691640"/>
            <a:ext cx="3453384" cy="2743200"/>
          </a:xfrm>
          <a:prstGeom prst="roundRect">
            <a:avLst>
              <a:gd name="adj" fmla="val 3333"/>
            </a:avLst>
          </a:prstGeom>
          <a:solidFill>
            <a:srgbClr val="0B2545"/>
          </a:solidFill>
          <a:ln/>
        </p:spPr>
      </p:sp>
      <p:sp>
        <p:nvSpPr>
          <p:cNvPr id="10" name="Shape 8"/>
          <p:cNvSpPr/>
          <p:nvPr/>
        </p:nvSpPr>
        <p:spPr>
          <a:xfrm>
            <a:off x="4642104" y="1965960"/>
            <a:ext cx="457200" cy="457200"/>
          </a:xfrm>
          <a:prstGeom prst="ellipse">
            <a:avLst/>
          </a:prstGeom>
          <a:solidFill>
            <a:srgbClr val="1C7293"/>
          </a:solidFill>
          <a:ln/>
        </p:spPr>
      </p:sp>
      <p:sp>
        <p:nvSpPr>
          <p:cNvPr id="11" name="Text 9"/>
          <p:cNvSpPr txBox="1"/>
          <p:nvPr/>
        </p:nvSpPr>
        <p:spPr>
          <a:xfrm>
            <a:off x="4642104"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642104" y="2560320"/>
            <a:ext cx="2904744" cy="54864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Analisis Distribusi Profit</a:t>
            </a:r>
            <a:endParaRPr lang="en-US" sz="1600" dirty="0"/>
          </a:p>
        </p:txBody>
      </p:sp>
      <p:sp>
        <p:nvSpPr>
          <p:cNvPr id="13" name="Text 11"/>
          <p:cNvSpPr/>
          <p:nvPr/>
        </p:nvSpPr>
        <p:spPr>
          <a:xfrm>
            <a:off x="4642104" y="3108960"/>
            <a:ext cx="2904744" cy="1234440"/>
          </a:xfrm>
          <a:prstGeom prst="rect">
            <a:avLst/>
          </a:prstGeom>
          <a:noFill/>
          <a:ln/>
        </p:spPr>
        <p:txBody>
          <a:bodyPr wrap="square" rtlCol="0" anchor="ctr"/>
          <a:lstStyle/>
          <a:p>
            <a:pPr indent="0" marL="0">
              <a:lnSpc>
                <a:spcPct val="125000"/>
              </a:lnSpc>
              <a:buNone/>
            </a:pPr>
            <a:r>
              <a:rPr lang="en-US" sz="1200" dirty="0">
                <a:solidFill>
                  <a:srgbClr val="CADCFC"/>
                </a:solidFill>
                <a:latin typeface="Calibri" pitchFamily="34" charset="0"/>
                <a:ea typeface="Calibri" pitchFamily="34" charset="-122"/>
                <a:cs typeface="Calibri" pitchFamily="34" charset="-120"/>
              </a:rPr>
              <a:t>Menganalisis distribusi profitabilitas regional dan menemukan akar penyebab ketimpangannya.</a:t>
            </a:r>
            <a:endParaRPr lang="en-US" sz="1200" dirty="0"/>
          </a:p>
        </p:txBody>
      </p:sp>
      <p:sp>
        <p:nvSpPr>
          <p:cNvPr id="14" name="Shape 12"/>
          <p:cNvSpPr/>
          <p:nvPr/>
        </p:nvSpPr>
        <p:spPr>
          <a:xfrm>
            <a:off x="8186928" y="1691640"/>
            <a:ext cx="3453384" cy="2743200"/>
          </a:xfrm>
          <a:prstGeom prst="roundRect">
            <a:avLst>
              <a:gd name="adj" fmla="val 3333"/>
            </a:avLst>
          </a:prstGeom>
          <a:solidFill>
            <a:srgbClr val="F4F7FC"/>
          </a:solidFill>
          <a:ln/>
        </p:spPr>
      </p:sp>
      <p:sp>
        <p:nvSpPr>
          <p:cNvPr id="15" name="Shape 13"/>
          <p:cNvSpPr/>
          <p:nvPr/>
        </p:nvSpPr>
        <p:spPr>
          <a:xfrm>
            <a:off x="8461248" y="1965960"/>
            <a:ext cx="457200" cy="457200"/>
          </a:xfrm>
          <a:prstGeom prst="ellipse">
            <a:avLst/>
          </a:prstGeom>
          <a:solidFill>
            <a:srgbClr val="065A82"/>
          </a:solidFill>
          <a:ln/>
        </p:spPr>
      </p:sp>
      <p:sp>
        <p:nvSpPr>
          <p:cNvPr id="16" name="Text 14"/>
          <p:cNvSpPr txBox="1"/>
          <p:nvPr/>
        </p:nvSpPr>
        <p:spPr>
          <a:xfrm>
            <a:off x="8461248"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461248" y="2560320"/>
            <a:ext cx="2904744" cy="548640"/>
          </a:xfrm>
          <a:prstGeom prst="rect">
            <a:avLst/>
          </a:prstGeom>
          <a:noFill/>
          <a:ln/>
        </p:spPr>
        <p:txBody>
          <a:bodyPr wrap="square"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Rekomendasi Strategis</a:t>
            </a:r>
            <a:endParaRPr lang="en-US" sz="1600" dirty="0"/>
          </a:p>
        </p:txBody>
      </p:sp>
      <p:sp>
        <p:nvSpPr>
          <p:cNvPr id="18" name="Text 16"/>
          <p:cNvSpPr/>
          <p:nvPr/>
        </p:nvSpPr>
        <p:spPr>
          <a:xfrm>
            <a:off x="8461248" y="3108960"/>
            <a:ext cx="2904744" cy="1234440"/>
          </a:xfrm>
          <a:prstGeom prst="rect">
            <a:avLst/>
          </a:prstGeom>
          <a:noFill/>
          <a:ln/>
        </p:spPr>
        <p:txBody>
          <a:bodyPr wrap="square" rtlCol="0" anchor="ctr"/>
          <a:lstStyle/>
          <a:p>
            <a:pPr indent="0" marL="0">
              <a:lnSpc>
                <a:spcPct val="125000"/>
              </a:lnSpc>
              <a:buNone/>
            </a:pPr>
            <a:r>
              <a:rPr lang="en-US" sz="1200" dirty="0">
                <a:solidFill>
                  <a:srgbClr val="2B3245"/>
                </a:solidFill>
                <a:latin typeface="Calibri" pitchFamily="34" charset="0"/>
                <a:ea typeface="Calibri" pitchFamily="34" charset="-122"/>
                <a:cs typeface="Calibri" pitchFamily="34" charset="-120"/>
              </a:rPr>
              <a:t>Memberikan rekomendasi strategi optimalisasi cabang regional yang terukur dan dapat dieksekusi.</a:t>
            </a:r>
            <a:endParaRPr lang="en-US" sz="1200" dirty="0"/>
          </a:p>
        </p:txBody>
      </p:sp>
      <p:sp>
        <p:nvSpPr>
          <p:cNvPr id="19" name="Text 17"/>
          <p:cNvSpPr/>
          <p:nvPr/>
        </p:nvSpPr>
        <p:spPr>
          <a:xfrm>
            <a:off x="548640" y="4754880"/>
            <a:ext cx="2743200" cy="32004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Stakeholder</a:t>
            </a:r>
            <a:endParaRPr lang="en-US" sz="1300" dirty="0"/>
          </a:p>
        </p:txBody>
      </p:sp>
      <p:sp>
        <p:nvSpPr>
          <p:cNvPr id="20" name="Text 18"/>
          <p:cNvSpPr/>
          <p:nvPr/>
        </p:nvSpPr>
        <p:spPr>
          <a:xfrm>
            <a:off x="548640" y="5120640"/>
            <a:ext cx="11091672" cy="457200"/>
          </a:xfrm>
          <a:prstGeom prst="rect">
            <a:avLst/>
          </a:prstGeom>
          <a:noFill/>
          <a:ln/>
        </p:spPr>
        <p:txBody>
          <a:bodyPr wrap="square" rtlCol="0" anchor="ctr"/>
          <a:lstStyle/>
          <a:p>
            <a:pPr indent="0" marL="0">
              <a:buNone/>
            </a:pPr>
            <a:r>
              <a:rPr lang="en-US" sz="1300" dirty="0">
                <a:solidFill>
                  <a:srgbClr val="2B3245"/>
                </a:solidFill>
                <a:latin typeface="Calibri" pitchFamily="34" charset="0"/>
                <a:ea typeface="Calibri" pitchFamily="34" charset="-122"/>
                <a:cs typeface="Calibri" pitchFamily="34" charset="-120"/>
              </a:rPr>
              <a:t>Head of Regional Operations  •  Regional Branch Managers  •  Executive Management</a:t>
            </a:r>
            <a:endParaRPr lang="en-US" sz="1300" dirty="0"/>
          </a:p>
        </p:txBody>
      </p:sp>
      <p:sp>
        <p:nvSpPr>
          <p:cNvPr id="21" name="Text 19"/>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22" name="Text 20"/>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04 · DATA</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Dataset</a:t>
            </a:r>
            <a:endParaRPr lang="en-US" sz="3000" dirty="0"/>
          </a:p>
        </p:txBody>
      </p:sp>
      <p:sp>
        <p:nvSpPr>
          <p:cNvPr id="4" name="Shape 2"/>
          <p:cNvSpPr/>
          <p:nvPr/>
        </p:nvSpPr>
        <p:spPr>
          <a:xfrm>
            <a:off x="548640" y="1554480"/>
            <a:ext cx="2567178" cy="1051560"/>
          </a:xfrm>
          <a:prstGeom prst="roundRect">
            <a:avLst>
              <a:gd name="adj" fmla="val 6957"/>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5" name="Text 3"/>
          <p:cNvSpPr/>
          <p:nvPr/>
        </p:nvSpPr>
        <p:spPr>
          <a:xfrm>
            <a:off x="640080" y="1664208"/>
            <a:ext cx="2384298" cy="578358"/>
          </a:xfrm>
          <a:prstGeom prst="rect">
            <a:avLst/>
          </a:prstGeom>
          <a:noFill/>
          <a:ln/>
        </p:spPr>
        <p:txBody>
          <a:bodyPr wrap="square" lIns="0" tIns="0" rIns="0" bIns="0" rtlCol="0" anchor="b"/>
          <a:lstStyle/>
          <a:p>
            <a:pPr algn="l" indent="0" marL="0">
              <a:buNone/>
            </a:pPr>
            <a:r>
              <a:rPr lang="en-US" sz="2400" b="1" dirty="0">
                <a:solidFill>
                  <a:srgbClr val="065A82"/>
                </a:solidFill>
                <a:latin typeface="Cambria" pitchFamily="34" charset="0"/>
                <a:ea typeface="Cambria" pitchFamily="34" charset="-122"/>
                <a:cs typeface="Cambria" pitchFamily="34" charset="-120"/>
              </a:rPr>
              <a:t>55.000</a:t>
            </a:r>
            <a:endParaRPr lang="en-US" sz="2400" dirty="0"/>
          </a:p>
        </p:txBody>
      </p:sp>
      <p:sp>
        <p:nvSpPr>
          <p:cNvPr id="6" name="Text 4"/>
          <p:cNvSpPr/>
          <p:nvPr/>
        </p:nvSpPr>
        <p:spPr>
          <a:xfrm>
            <a:off x="640080" y="2206447"/>
            <a:ext cx="2384298" cy="368046"/>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Baris transaksi</a:t>
            </a:r>
            <a:endParaRPr lang="en-US" sz="1050" dirty="0"/>
          </a:p>
        </p:txBody>
      </p:sp>
      <p:sp>
        <p:nvSpPr>
          <p:cNvPr id="7" name="Shape 5"/>
          <p:cNvSpPr/>
          <p:nvPr/>
        </p:nvSpPr>
        <p:spPr>
          <a:xfrm>
            <a:off x="3390138" y="1554480"/>
            <a:ext cx="2567178" cy="1051560"/>
          </a:xfrm>
          <a:prstGeom prst="roundRect">
            <a:avLst>
              <a:gd name="adj" fmla="val 6957"/>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8" name="Text 6"/>
          <p:cNvSpPr/>
          <p:nvPr/>
        </p:nvSpPr>
        <p:spPr>
          <a:xfrm>
            <a:off x="3481578" y="1664208"/>
            <a:ext cx="2384298" cy="578358"/>
          </a:xfrm>
          <a:prstGeom prst="rect">
            <a:avLst/>
          </a:prstGeom>
          <a:noFill/>
          <a:ln/>
        </p:spPr>
        <p:txBody>
          <a:bodyPr wrap="square" lIns="0" tIns="0" rIns="0" bIns="0" rtlCol="0" anchor="b"/>
          <a:lstStyle/>
          <a:p>
            <a:pPr algn="l" indent="0" marL="0">
              <a:buNone/>
            </a:pPr>
            <a:r>
              <a:rPr lang="en-US" sz="2400" b="1" dirty="0">
                <a:solidFill>
                  <a:srgbClr val="065A82"/>
                </a:solidFill>
                <a:latin typeface="Cambria" pitchFamily="34" charset="0"/>
                <a:ea typeface="Cambria" pitchFamily="34" charset="-122"/>
                <a:cs typeface="Cambria" pitchFamily="34" charset="-120"/>
              </a:rPr>
              <a:t>37</a:t>
            </a:r>
            <a:endParaRPr lang="en-US" sz="2400" dirty="0"/>
          </a:p>
        </p:txBody>
      </p:sp>
      <p:sp>
        <p:nvSpPr>
          <p:cNvPr id="9" name="Text 7"/>
          <p:cNvSpPr/>
          <p:nvPr/>
        </p:nvSpPr>
        <p:spPr>
          <a:xfrm>
            <a:off x="3481578" y="2206447"/>
            <a:ext cx="2384298" cy="368046"/>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Kolom / atribut</a:t>
            </a:r>
            <a:endParaRPr lang="en-US" sz="1050" dirty="0"/>
          </a:p>
        </p:txBody>
      </p:sp>
      <p:sp>
        <p:nvSpPr>
          <p:cNvPr id="10" name="Shape 8"/>
          <p:cNvSpPr/>
          <p:nvPr/>
        </p:nvSpPr>
        <p:spPr>
          <a:xfrm>
            <a:off x="6231636" y="1554480"/>
            <a:ext cx="2567178" cy="1051560"/>
          </a:xfrm>
          <a:prstGeom prst="roundRect">
            <a:avLst>
              <a:gd name="adj" fmla="val 6957"/>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11" name="Text 9"/>
          <p:cNvSpPr/>
          <p:nvPr/>
        </p:nvSpPr>
        <p:spPr>
          <a:xfrm>
            <a:off x="6323076" y="1664208"/>
            <a:ext cx="2384298" cy="578358"/>
          </a:xfrm>
          <a:prstGeom prst="rect">
            <a:avLst/>
          </a:prstGeom>
          <a:noFill/>
          <a:ln/>
        </p:spPr>
        <p:txBody>
          <a:bodyPr wrap="square" lIns="0" tIns="0" rIns="0" bIns="0" rtlCol="0" anchor="b"/>
          <a:lstStyle/>
          <a:p>
            <a:pPr algn="l" indent="0" marL="0">
              <a:buNone/>
            </a:pPr>
            <a:r>
              <a:rPr lang="en-US" sz="2400" b="1" dirty="0">
                <a:solidFill>
                  <a:srgbClr val="065A82"/>
                </a:solidFill>
                <a:latin typeface="Cambria" pitchFamily="34" charset="0"/>
                <a:ea typeface="Cambria" pitchFamily="34" charset="-122"/>
                <a:cs typeface="Cambria" pitchFamily="34" charset="-120"/>
              </a:rPr>
              <a:t>Jan – Des 2024</a:t>
            </a:r>
            <a:endParaRPr lang="en-US" sz="2400" dirty="0"/>
          </a:p>
        </p:txBody>
      </p:sp>
      <p:sp>
        <p:nvSpPr>
          <p:cNvPr id="12" name="Text 10"/>
          <p:cNvSpPr/>
          <p:nvPr/>
        </p:nvSpPr>
        <p:spPr>
          <a:xfrm>
            <a:off x="6323076" y="2206447"/>
            <a:ext cx="2384298" cy="368046"/>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Cakupan waktu</a:t>
            </a:r>
            <a:endParaRPr lang="en-US" sz="1050" dirty="0"/>
          </a:p>
        </p:txBody>
      </p:sp>
      <p:sp>
        <p:nvSpPr>
          <p:cNvPr id="13" name="Shape 11"/>
          <p:cNvSpPr/>
          <p:nvPr/>
        </p:nvSpPr>
        <p:spPr>
          <a:xfrm>
            <a:off x="9073134" y="1554480"/>
            <a:ext cx="2567178" cy="1051560"/>
          </a:xfrm>
          <a:prstGeom prst="roundRect">
            <a:avLst>
              <a:gd name="adj" fmla="val 6957"/>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14" name="Text 12"/>
          <p:cNvSpPr/>
          <p:nvPr/>
        </p:nvSpPr>
        <p:spPr>
          <a:xfrm>
            <a:off x="9164574" y="1664208"/>
            <a:ext cx="2384298" cy="578358"/>
          </a:xfrm>
          <a:prstGeom prst="rect">
            <a:avLst/>
          </a:prstGeom>
          <a:noFill/>
          <a:ln/>
        </p:spPr>
        <p:txBody>
          <a:bodyPr wrap="square" lIns="0" tIns="0" rIns="0" bIns="0" rtlCol="0" anchor="b"/>
          <a:lstStyle/>
          <a:p>
            <a:pPr algn="l" indent="0" marL="0">
              <a:buNone/>
            </a:pPr>
            <a:r>
              <a:rPr lang="en-US" sz="2400" b="1" dirty="0">
                <a:solidFill>
                  <a:srgbClr val="065A82"/>
                </a:solidFill>
                <a:latin typeface="Cambria" pitchFamily="34" charset="0"/>
                <a:ea typeface="Cambria" pitchFamily="34" charset="-122"/>
                <a:cs typeface="Cambria" pitchFamily="34" charset="-120"/>
              </a:rPr>
              <a:t>18 / 25 / 90</a:t>
            </a:r>
            <a:endParaRPr lang="en-US" sz="2400" dirty="0"/>
          </a:p>
        </p:txBody>
      </p:sp>
      <p:sp>
        <p:nvSpPr>
          <p:cNvPr id="15" name="Text 13"/>
          <p:cNvSpPr/>
          <p:nvPr/>
        </p:nvSpPr>
        <p:spPr>
          <a:xfrm>
            <a:off x="9164574" y="2206447"/>
            <a:ext cx="2384298" cy="368046"/>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Provinsi / Kota / Cabang</a:t>
            </a:r>
            <a:endParaRPr lang="en-US" sz="1050" dirty="0"/>
          </a:p>
        </p:txBody>
      </p:sp>
      <p:sp>
        <p:nvSpPr>
          <p:cNvPr id="16" name="Text 14"/>
          <p:cNvSpPr/>
          <p:nvPr/>
        </p:nvSpPr>
        <p:spPr>
          <a:xfrm>
            <a:off x="548640" y="2788920"/>
            <a:ext cx="7315200" cy="32004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retail_indonesia_55k_cleaned.csv</a:t>
            </a:r>
            <a:endParaRPr lang="en-US" sz="1300" dirty="0"/>
          </a:p>
        </p:txBody>
      </p:sp>
      <p:sp>
        <p:nvSpPr>
          <p:cNvPr id="17" name="Text 15"/>
          <p:cNvSpPr/>
          <p:nvPr/>
        </p:nvSpPr>
        <p:spPr>
          <a:xfrm>
            <a:off x="548640" y="3108960"/>
            <a:ext cx="11091672" cy="365760"/>
          </a:xfrm>
          <a:prstGeom prst="rect">
            <a:avLst/>
          </a:prstGeom>
          <a:noFill/>
          <a:ln/>
        </p:spPr>
        <p:txBody>
          <a:bodyPr wrap="square" rtlCol="0" anchor="ctr"/>
          <a:lstStyle/>
          <a:p>
            <a:pPr indent="0" marL="0">
              <a:buNone/>
            </a:pPr>
            <a:r>
              <a:rPr lang="en-US" sz="1200" dirty="0">
                <a:solidFill>
                  <a:srgbClr val="6E7B91"/>
                </a:solidFill>
                <a:latin typeface="Calibri" pitchFamily="34" charset="0"/>
                <a:ea typeface="Calibri" pitchFamily="34" charset="-122"/>
                <a:cs typeface="Calibri" pitchFamily="34" charset="-120"/>
              </a:rPr>
              <a:t>Sumber data transaksi ritel nasional, telah melalui proses data cleaning &amp; validasi pada tahap Data Preparation.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91672" cy="2651760"/>
        </p:xfrm>
        <a:graphic>
          <a:graphicData uri="http://schemas.openxmlformats.org/drawingml/2006/table">
            <a:tbl>
              <a:tblPr/>
              <a:tblGrid>
                <a:gridCol w="2743200"/>
                <a:gridCol w="8348472"/>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Kelompok Kolom</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Contoh Atribut</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r>
              <a:tr h="411480">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Transaksi &amp; Waktu</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order_id, tanggal_transaksi, bulan, hari, jam</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411480">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Lokasi &amp; Channel</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channel_penjualan, store_name, tipe_toko, kota, provinsi</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411480">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Pelanggan</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customer_id, jenis_kelamin, kelompok_usia, tipe_pelanggan</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411480">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Produk</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product_id, nama_produk, kategori, sub_kategori, brand</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411480">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Finansial</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qty, harga_jual, diskon_persen, total_penjualan, biaya_pengiriman, profit, margin_persen</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bl>
          </a:graphicData>
        </a:graphic>
      </p:graphicFrame>
      <p:sp>
        <p:nvSpPr>
          <p:cNvPr id="19" name="Text 16"/>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20" name="Text 17"/>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05 · CARA KERJA</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Methodology</a:t>
            </a:r>
            <a:endParaRPr lang="en-US" sz="3000" dirty="0"/>
          </a:p>
        </p:txBody>
      </p:sp>
      <p:sp>
        <p:nvSpPr>
          <p:cNvPr id="4" name="Shape 2"/>
          <p:cNvSpPr/>
          <p:nvPr/>
        </p:nvSpPr>
        <p:spPr>
          <a:xfrm>
            <a:off x="548640" y="2377440"/>
            <a:ext cx="1554480" cy="1371600"/>
          </a:xfrm>
          <a:prstGeom prst="roundRect">
            <a:avLst>
              <a:gd name="adj" fmla="val 6667"/>
            </a:avLst>
          </a:prstGeom>
          <a:solidFill>
            <a:srgbClr val="065A82"/>
          </a:solidFill>
          <a:ln/>
        </p:spPr>
      </p:sp>
      <p:sp>
        <p:nvSpPr>
          <p:cNvPr id="5" name="Text 3"/>
          <p:cNvSpPr/>
          <p:nvPr/>
        </p:nvSpPr>
        <p:spPr>
          <a:xfrm>
            <a:off x="658368" y="2487168"/>
            <a:ext cx="54864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640080" y="2880360"/>
            <a:ext cx="1371600" cy="77724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Collection</a:t>
            </a:r>
            <a:endParaRPr lang="en-US" sz="1150" dirty="0"/>
          </a:p>
        </p:txBody>
      </p:sp>
      <p:sp>
        <p:nvSpPr>
          <p:cNvPr id="7" name="Text 5"/>
          <p:cNvSpPr/>
          <p:nvPr/>
        </p:nvSpPr>
        <p:spPr>
          <a:xfrm>
            <a:off x="2103120" y="2377440"/>
            <a:ext cx="352958" cy="1371600"/>
          </a:xfrm>
          <a:prstGeom prst="rect">
            <a:avLst/>
          </a:prstGeom>
          <a:noFill/>
          <a:ln/>
        </p:spPr>
        <p:txBody>
          <a:bodyPr wrap="square" rtlCol="0" anchor="ctr"/>
          <a:lstStyle/>
          <a:p>
            <a:pPr algn="ctr" indent="0" marL="0">
              <a:buNone/>
            </a:pPr>
            <a:r>
              <a:rPr lang="en-US" sz="2000" dirty="0">
                <a:solidFill>
                  <a:srgbClr val="6E7B91"/>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456078" y="2377440"/>
            <a:ext cx="1554480" cy="1371600"/>
          </a:xfrm>
          <a:prstGeom prst="roundRect">
            <a:avLst>
              <a:gd name="adj" fmla="val 6667"/>
            </a:avLst>
          </a:prstGeom>
          <a:solidFill>
            <a:srgbClr val="1C7293"/>
          </a:solidFill>
          <a:ln/>
        </p:spPr>
      </p:sp>
      <p:sp>
        <p:nvSpPr>
          <p:cNvPr id="9" name="Text 7"/>
          <p:cNvSpPr/>
          <p:nvPr/>
        </p:nvSpPr>
        <p:spPr>
          <a:xfrm>
            <a:off x="2565806" y="2487168"/>
            <a:ext cx="54864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2547518" y="2880360"/>
            <a:ext cx="1371600" cy="77724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Cleaning</a:t>
            </a:r>
            <a:endParaRPr lang="en-US" sz="1150" dirty="0"/>
          </a:p>
        </p:txBody>
      </p:sp>
      <p:sp>
        <p:nvSpPr>
          <p:cNvPr id="11" name="Text 9"/>
          <p:cNvSpPr/>
          <p:nvPr/>
        </p:nvSpPr>
        <p:spPr>
          <a:xfrm>
            <a:off x="4010558" y="2377440"/>
            <a:ext cx="352958" cy="1371600"/>
          </a:xfrm>
          <a:prstGeom prst="rect">
            <a:avLst/>
          </a:prstGeom>
          <a:noFill/>
          <a:ln/>
        </p:spPr>
        <p:txBody>
          <a:bodyPr wrap="square" rtlCol="0" anchor="ctr"/>
          <a:lstStyle/>
          <a:p>
            <a:pPr algn="ctr" indent="0" marL="0">
              <a:buNone/>
            </a:pPr>
            <a:r>
              <a:rPr lang="en-US" sz="2000" dirty="0">
                <a:solidFill>
                  <a:srgbClr val="6E7B91"/>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4363517" y="2377440"/>
            <a:ext cx="1554480" cy="1371600"/>
          </a:xfrm>
          <a:prstGeom prst="roundRect">
            <a:avLst>
              <a:gd name="adj" fmla="val 6667"/>
            </a:avLst>
          </a:prstGeom>
          <a:solidFill>
            <a:srgbClr val="065A82"/>
          </a:solidFill>
          <a:ln/>
        </p:spPr>
      </p:sp>
      <p:sp>
        <p:nvSpPr>
          <p:cNvPr id="13" name="Text 11"/>
          <p:cNvSpPr/>
          <p:nvPr/>
        </p:nvSpPr>
        <p:spPr>
          <a:xfrm>
            <a:off x="4473245" y="2487168"/>
            <a:ext cx="54864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4454957" y="2880360"/>
            <a:ext cx="1371600" cy="77724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Exploratory</a:t>
            </a:r>
            <a:endParaRPr lang="en-US" sz="1150" dirty="0"/>
          </a:p>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Data Analysis</a:t>
            </a:r>
            <a:endParaRPr lang="en-US" sz="1150" dirty="0"/>
          </a:p>
        </p:txBody>
      </p:sp>
      <p:sp>
        <p:nvSpPr>
          <p:cNvPr id="15" name="Text 13"/>
          <p:cNvSpPr/>
          <p:nvPr/>
        </p:nvSpPr>
        <p:spPr>
          <a:xfrm>
            <a:off x="5917997" y="2377440"/>
            <a:ext cx="352958" cy="1371600"/>
          </a:xfrm>
          <a:prstGeom prst="rect">
            <a:avLst/>
          </a:prstGeom>
          <a:noFill/>
          <a:ln/>
        </p:spPr>
        <p:txBody>
          <a:bodyPr wrap="square" rtlCol="0" anchor="ctr"/>
          <a:lstStyle/>
          <a:p>
            <a:pPr algn="ctr" indent="0" marL="0">
              <a:buNone/>
            </a:pPr>
            <a:r>
              <a:rPr lang="en-US" sz="2000" dirty="0">
                <a:solidFill>
                  <a:srgbClr val="6E7B91"/>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70955" y="2377440"/>
            <a:ext cx="1554480" cy="1371600"/>
          </a:xfrm>
          <a:prstGeom prst="roundRect">
            <a:avLst>
              <a:gd name="adj" fmla="val 6667"/>
            </a:avLst>
          </a:prstGeom>
          <a:solidFill>
            <a:srgbClr val="1C7293"/>
          </a:solidFill>
          <a:ln/>
        </p:spPr>
      </p:sp>
      <p:sp>
        <p:nvSpPr>
          <p:cNvPr id="17" name="Text 15"/>
          <p:cNvSpPr/>
          <p:nvPr/>
        </p:nvSpPr>
        <p:spPr>
          <a:xfrm>
            <a:off x="6380683" y="2487168"/>
            <a:ext cx="54864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6362395" y="2880360"/>
            <a:ext cx="1371600" cy="77724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Root Cause</a:t>
            </a:r>
            <a:endParaRPr lang="en-US" sz="1150" dirty="0"/>
          </a:p>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Analysis</a:t>
            </a:r>
            <a:endParaRPr lang="en-US" sz="1150" dirty="0"/>
          </a:p>
        </p:txBody>
      </p:sp>
      <p:sp>
        <p:nvSpPr>
          <p:cNvPr id="19" name="Text 17"/>
          <p:cNvSpPr/>
          <p:nvPr/>
        </p:nvSpPr>
        <p:spPr>
          <a:xfrm>
            <a:off x="7825435" y="2377440"/>
            <a:ext cx="352958" cy="1371600"/>
          </a:xfrm>
          <a:prstGeom prst="rect">
            <a:avLst/>
          </a:prstGeom>
          <a:noFill/>
          <a:ln/>
        </p:spPr>
        <p:txBody>
          <a:bodyPr wrap="square" rtlCol="0" anchor="ctr"/>
          <a:lstStyle/>
          <a:p>
            <a:pPr algn="ctr" indent="0" marL="0">
              <a:buNone/>
            </a:pPr>
            <a:r>
              <a:rPr lang="en-US" sz="2000" dirty="0">
                <a:solidFill>
                  <a:srgbClr val="6E7B91"/>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8178394" y="2377440"/>
            <a:ext cx="1554480" cy="1371600"/>
          </a:xfrm>
          <a:prstGeom prst="roundRect">
            <a:avLst>
              <a:gd name="adj" fmla="val 6667"/>
            </a:avLst>
          </a:prstGeom>
          <a:solidFill>
            <a:srgbClr val="065A82"/>
          </a:solidFill>
          <a:ln/>
        </p:spPr>
      </p:sp>
      <p:sp>
        <p:nvSpPr>
          <p:cNvPr id="21" name="Text 19"/>
          <p:cNvSpPr/>
          <p:nvPr/>
        </p:nvSpPr>
        <p:spPr>
          <a:xfrm>
            <a:off x="8288122" y="2487168"/>
            <a:ext cx="54864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2" name="Text 20"/>
          <p:cNvSpPr/>
          <p:nvPr/>
        </p:nvSpPr>
        <p:spPr>
          <a:xfrm>
            <a:off x="8269834" y="2880360"/>
            <a:ext cx="1371600" cy="77724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Dashboard</a:t>
            </a:r>
            <a:endParaRPr lang="en-US" sz="1150" dirty="0"/>
          </a:p>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Development</a:t>
            </a:r>
            <a:endParaRPr lang="en-US" sz="1150" dirty="0"/>
          </a:p>
        </p:txBody>
      </p:sp>
      <p:sp>
        <p:nvSpPr>
          <p:cNvPr id="23" name="Text 21"/>
          <p:cNvSpPr/>
          <p:nvPr/>
        </p:nvSpPr>
        <p:spPr>
          <a:xfrm>
            <a:off x="9732874" y="2377440"/>
            <a:ext cx="352958" cy="1371600"/>
          </a:xfrm>
          <a:prstGeom prst="rect">
            <a:avLst/>
          </a:prstGeom>
          <a:noFill/>
          <a:ln/>
        </p:spPr>
        <p:txBody>
          <a:bodyPr wrap="square" rtlCol="0" anchor="ctr"/>
          <a:lstStyle/>
          <a:p>
            <a:pPr algn="ctr" indent="0" marL="0">
              <a:buNone/>
            </a:pPr>
            <a:r>
              <a:rPr lang="en-US" sz="2000" dirty="0">
                <a:solidFill>
                  <a:srgbClr val="6E7B91"/>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10085832" y="2377440"/>
            <a:ext cx="1554480" cy="1371600"/>
          </a:xfrm>
          <a:prstGeom prst="roundRect">
            <a:avLst>
              <a:gd name="adj" fmla="val 6667"/>
            </a:avLst>
          </a:prstGeom>
          <a:solidFill>
            <a:srgbClr val="0B2545"/>
          </a:solidFill>
          <a:ln/>
        </p:spPr>
      </p:sp>
      <p:sp>
        <p:nvSpPr>
          <p:cNvPr id="25" name="Text 23"/>
          <p:cNvSpPr/>
          <p:nvPr/>
        </p:nvSpPr>
        <p:spPr>
          <a:xfrm>
            <a:off x="10195560" y="2487168"/>
            <a:ext cx="54864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6" name="Text 24"/>
          <p:cNvSpPr/>
          <p:nvPr/>
        </p:nvSpPr>
        <p:spPr>
          <a:xfrm>
            <a:off x="10177272" y="2880360"/>
            <a:ext cx="1371600" cy="77724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Recommendation</a:t>
            </a:r>
            <a:endParaRPr lang="en-US" sz="1150" dirty="0"/>
          </a:p>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&amp; Reporting</a:t>
            </a:r>
            <a:endParaRPr lang="en-US" sz="1150" dirty="0"/>
          </a:p>
        </p:txBody>
      </p:sp>
      <p:sp>
        <p:nvSpPr>
          <p:cNvPr id="27" name="Text 25"/>
          <p:cNvSpPr/>
          <p:nvPr/>
        </p:nvSpPr>
        <p:spPr>
          <a:xfrm>
            <a:off x="548640" y="4206240"/>
            <a:ext cx="11091672" cy="822960"/>
          </a:xfrm>
          <a:prstGeom prst="rect">
            <a:avLst/>
          </a:prstGeom>
          <a:noFill/>
          <a:ln/>
        </p:spPr>
        <p:txBody>
          <a:bodyPr wrap="square" rtlCol="0" anchor="ctr"/>
          <a:lstStyle/>
          <a:p>
            <a:pPr indent="0" marL="0">
              <a:lnSpc>
                <a:spcPct val="130000"/>
              </a:lnSpc>
              <a:buNone/>
            </a:pPr>
            <a:r>
              <a:rPr lang="en-US" sz="1300" dirty="0">
                <a:solidFill>
                  <a:srgbClr val="2B3245"/>
                </a:solidFill>
                <a:latin typeface="Calibri" pitchFamily="34" charset="0"/>
                <a:ea typeface="Calibri" pitchFamily="34" charset="-122"/>
                <a:cs typeface="Calibri" pitchFamily="34" charset="-120"/>
              </a:rPr>
              <a:t>Setiap tahap didokumentasikan sebagai deliverable terpisah — dari Project Charter, dataset bersih, notebook EDA, Root Cause Analysis, Recommendation Matrix, hingga dashboard performa cabang — sehingga proses analisis dapat ditelusuri ulang.</a:t>
            </a:r>
            <a:endParaRPr lang="en-US" sz="1300" dirty="0"/>
          </a:p>
        </p:txBody>
      </p:sp>
      <p:sp>
        <p:nvSpPr>
          <p:cNvPr id="28" name="Shape 26"/>
          <p:cNvSpPr/>
          <p:nvPr/>
        </p:nvSpPr>
        <p:spPr>
          <a:xfrm>
            <a:off x="548640" y="5120640"/>
            <a:ext cx="11091672" cy="1005840"/>
          </a:xfrm>
          <a:prstGeom prst="roundRect">
            <a:avLst>
              <a:gd name="adj" fmla="val 7273"/>
            </a:avLst>
          </a:prstGeom>
          <a:solidFill>
            <a:srgbClr val="F4F7FC"/>
          </a:solidFill>
          <a:ln/>
        </p:spPr>
      </p:sp>
      <p:sp>
        <p:nvSpPr>
          <p:cNvPr id="29" name="Text 27"/>
          <p:cNvSpPr/>
          <p:nvPr/>
        </p:nvSpPr>
        <p:spPr>
          <a:xfrm>
            <a:off x="822960" y="5394960"/>
            <a:ext cx="10543032" cy="45720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Tools:  Excel  •  Python (Pandas)  •  Jupyter Notebook  •  Power BI</a:t>
            </a:r>
            <a:endParaRPr lang="en-US" sz="1300" dirty="0"/>
          </a:p>
        </p:txBody>
      </p:sp>
      <p:sp>
        <p:nvSpPr>
          <p:cNvPr id="30" name="Text 28"/>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31" name="Text 29"/>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06 · KEY FINDING 1</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Revenue Menumpuk di Jawa</a:t>
            </a:r>
            <a:endParaRPr lang="en-US" sz="3000" dirty="0"/>
          </a:p>
        </p:txBody>
      </p:sp>
      <p:graphicFrame>
        <p:nvGraphicFramePr>
          <p:cNvPr id="4" name="Chart 0" descr=""/>
          <p:cNvGraphicFramePr/>
          <p:nvPr/>
        </p:nvGraphicFramePr>
        <p:xfrm>
          <a:off x="548640" y="1554480"/>
          <a:ext cx="64922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15200" y="1554480"/>
            <a:ext cx="4343400" cy="1280160"/>
          </a:xfrm>
          <a:prstGeom prst="roundRect">
            <a:avLst>
              <a:gd name="adj" fmla="val 5714"/>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6" name="Text 3"/>
          <p:cNvSpPr/>
          <p:nvPr/>
        </p:nvSpPr>
        <p:spPr>
          <a:xfrm>
            <a:off x="7406640" y="1664208"/>
            <a:ext cx="4160520" cy="704088"/>
          </a:xfrm>
          <a:prstGeom prst="rect">
            <a:avLst/>
          </a:prstGeom>
          <a:noFill/>
          <a:ln/>
        </p:spPr>
        <p:txBody>
          <a:bodyPr wrap="square" lIns="0" tIns="0" rIns="0" bIns="0" rtlCol="0" anchor="b"/>
          <a:lstStyle/>
          <a:p>
            <a:pPr algn="l" indent="0" marL="0">
              <a:buNone/>
            </a:pPr>
            <a:r>
              <a:rPr lang="en-US" sz="2400" b="1" dirty="0">
                <a:solidFill>
                  <a:srgbClr val="C0392B"/>
                </a:solidFill>
                <a:latin typeface="Cambria" pitchFamily="34" charset="0"/>
                <a:ea typeface="Cambria" pitchFamily="34" charset="-122"/>
                <a:cs typeface="Cambria" pitchFamily="34" charset="-120"/>
              </a:rPr>
              <a:t>22,06%</a:t>
            </a:r>
            <a:endParaRPr lang="en-US" sz="2400" dirty="0"/>
          </a:p>
        </p:txBody>
      </p:sp>
      <p:sp>
        <p:nvSpPr>
          <p:cNvPr id="7" name="Text 4"/>
          <p:cNvSpPr/>
          <p:nvPr/>
        </p:nvSpPr>
        <p:spPr>
          <a:xfrm>
            <a:off x="7406640" y="2348179"/>
            <a:ext cx="4160520" cy="448056"/>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Kontribusi Jawa Barat sendiri terhadap total revenue perusahaan</a:t>
            </a:r>
            <a:endParaRPr lang="en-US" sz="1050" dirty="0"/>
          </a:p>
        </p:txBody>
      </p:sp>
      <p:sp>
        <p:nvSpPr>
          <p:cNvPr id="8" name="Shape 5"/>
          <p:cNvSpPr/>
          <p:nvPr/>
        </p:nvSpPr>
        <p:spPr>
          <a:xfrm>
            <a:off x="7315200" y="2971800"/>
            <a:ext cx="4343400" cy="1280160"/>
          </a:xfrm>
          <a:prstGeom prst="roundRect">
            <a:avLst>
              <a:gd name="adj" fmla="val 5714"/>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9" name="Text 6"/>
          <p:cNvSpPr/>
          <p:nvPr/>
        </p:nvSpPr>
        <p:spPr>
          <a:xfrm>
            <a:off x="7406640" y="3081528"/>
            <a:ext cx="4160520" cy="704088"/>
          </a:xfrm>
          <a:prstGeom prst="rect">
            <a:avLst/>
          </a:prstGeom>
          <a:noFill/>
          <a:ln/>
        </p:spPr>
        <p:txBody>
          <a:bodyPr wrap="square" lIns="0" tIns="0" rIns="0" bIns="0" rtlCol="0" anchor="b"/>
          <a:lstStyle/>
          <a:p>
            <a:pPr algn="l" indent="0" marL="0">
              <a:buNone/>
            </a:pPr>
            <a:r>
              <a:rPr lang="en-US" sz="2400" b="1" dirty="0">
                <a:solidFill>
                  <a:srgbClr val="0B2545"/>
                </a:solidFill>
                <a:latin typeface="Cambria" pitchFamily="34" charset="0"/>
                <a:ea typeface="Cambria" pitchFamily="34" charset="-122"/>
                <a:cs typeface="Cambria" pitchFamily="34" charset="-120"/>
              </a:rPr>
              <a:t>53,8% vs 46,2%</a:t>
            </a:r>
            <a:endParaRPr lang="en-US" sz="2400" dirty="0"/>
          </a:p>
        </p:txBody>
      </p:sp>
      <p:sp>
        <p:nvSpPr>
          <p:cNvPr id="10" name="Text 7"/>
          <p:cNvSpPr/>
          <p:nvPr/>
        </p:nvSpPr>
        <p:spPr>
          <a:xfrm>
            <a:off x="7406640" y="3765499"/>
            <a:ext cx="4160520" cy="448056"/>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Kontribusi revenue Jawa (6 provinsi) vs Luar Jawa (12 provinsi)</a:t>
            </a:r>
            <a:endParaRPr lang="en-US" sz="1050" dirty="0"/>
          </a:p>
        </p:txBody>
      </p:sp>
      <p:sp>
        <p:nvSpPr>
          <p:cNvPr id="11" name="Shape 8"/>
          <p:cNvSpPr/>
          <p:nvPr/>
        </p:nvSpPr>
        <p:spPr>
          <a:xfrm>
            <a:off x="7315200" y="4389120"/>
            <a:ext cx="4343400" cy="1645920"/>
          </a:xfrm>
          <a:prstGeom prst="roundRect">
            <a:avLst>
              <a:gd name="adj" fmla="val 4444"/>
            </a:avLst>
          </a:prstGeom>
          <a:solidFill>
            <a:srgbClr val="F4F7FC"/>
          </a:solidFill>
          <a:ln/>
        </p:spPr>
      </p:sp>
      <p:sp>
        <p:nvSpPr>
          <p:cNvPr id="12" name="Text 9"/>
          <p:cNvSpPr/>
          <p:nvPr/>
        </p:nvSpPr>
        <p:spPr>
          <a:xfrm>
            <a:off x="7543800" y="4572000"/>
            <a:ext cx="3886200" cy="1371600"/>
          </a:xfrm>
          <a:prstGeom prst="rect">
            <a:avLst/>
          </a:prstGeom>
          <a:noFill/>
          <a:ln/>
        </p:spPr>
        <p:txBody>
          <a:bodyPr wrap="square" rtlCol="0" anchor="ctr"/>
          <a:lstStyle/>
          <a:p>
            <a:pPr indent="0" marL="0">
              <a:lnSpc>
                <a:spcPct val="125000"/>
              </a:lnSpc>
              <a:buNone/>
            </a:pPr>
            <a:r>
              <a:rPr lang="en-US" sz="1200" dirty="0">
                <a:solidFill>
                  <a:srgbClr val="2B3245"/>
                </a:solidFill>
                <a:latin typeface="Calibri" pitchFamily="34" charset="0"/>
                <a:ea typeface="Calibri" pitchFamily="34" charset="-122"/>
                <a:cs typeface="Calibri" pitchFamily="34" charset="-120"/>
              </a:rPr>
              <a:t>Meski Luar Jawa mencakup dua kali lebih banyak provinsi, kontribusinya justru lebih kecil — indikasi kuat adanya hambatan struktural, bukan sekadar minat pasar yang rendah.</a:t>
            </a:r>
            <a:endParaRPr lang="en-US" sz="1200" dirty="0"/>
          </a:p>
        </p:txBody>
      </p:sp>
      <p:sp>
        <p:nvSpPr>
          <p:cNvPr id="13" name="Text 10"/>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14" name="Text 11"/>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07 · KEY FINDING 2</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Jaringan Toko Fisik Timpang</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309360" cy="2743200"/>
        </p:xfrm>
        <a:graphic>
          <a:graphicData uri="http://schemas.openxmlformats.org/drawingml/2006/table">
            <a:tbl>
              <a:tblPr/>
              <a:tblGrid>
                <a:gridCol w="2651760"/>
                <a:gridCol w="1828800"/>
                <a:gridCol w="182880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Metrik</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Jawa</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Luar Jawa</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r>
              <a:tr h="548640">
                <a:tc>
                  <a:txBody>
                    <a:bodyPr/>
                    <a:lstStyle/>
                    <a:p>
                      <a:pPr indent="0" marL="0">
                        <a:buNone/>
                      </a:pPr>
                      <a:r>
                        <a:rPr lang="en-US" sz="1250" dirty="0">
                          <a:solidFill>
                            <a:srgbClr val="2B3245"/>
                          </a:solidFill>
                          <a:latin typeface="Calibri" pitchFamily="34" charset="0"/>
                          <a:ea typeface="Calibri" pitchFamily="34" charset="-122"/>
                          <a:cs typeface="Calibri" pitchFamily="34" charset="-120"/>
                        </a:rPr>
                        <a:t>Kontribusi Revenue</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2B3245"/>
                          </a:solidFill>
                          <a:latin typeface="Calibri" pitchFamily="34" charset="0"/>
                          <a:ea typeface="Calibri" pitchFamily="34" charset="-122"/>
                          <a:cs typeface="Calibri" pitchFamily="34" charset="-120"/>
                        </a:rPr>
                        <a:t>53,8%</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46,2%</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48640">
                <a:tc>
                  <a:txBody>
                    <a:bodyPr/>
                    <a:lstStyle/>
                    <a:p>
                      <a:pPr indent="0" marL="0">
                        <a:buNone/>
                      </a:pPr>
                      <a:r>
                        <a:rPr lang="en-US" sz="1250" dirty="0">
                          <a:solidFill>
                            <a:srgbClr val="2B3245"/>
                          </a:solidFill>
                          <a:latin typeface="Calibri" pitchFamily="34" charset="0"/>
                          <a:ea typeface="Calibri" pitchFamily="34" charset="-122"/>
                          <a:cs typeface="Calibri" pitchFamily="34" charset="-120"/>
                        </a:rPr>
                        <a:t>Jumlah Toko Fisik</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2B3245"/>
                          </a:solidFill>
                          <a:latin typeface="Calibri" pitchFamily="34" charset="0"/>
                          <a:ea typeface="Calibri" pitchFamily="34" charset="-122"/>
                          <a:cs typeface="Calibri" pitchFamily="34" charset="-120"/>
                        </a:rPr>
                        <a:t>10 toko (6 provinsi)</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5 toko (12 provinsi)</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48640">
                <a:tc>
                  <a:txBody>
                    <a:bodyPr/>
                    <a:lstStyle/>
                    <a:p>
                      <a:pPr indent="0" marL="0">
                        <a:buNone/>
                      </a:pPr>
                      <a:r>
                        <a:rPr lang="en-US" sz="1250" dirty="0">
                          <a:solidFill>
                            <a:srgbClr val="2B3245"/>
                          </a:solidFill>
                          <a:latin typeface="Calibri" pitchFamily="34" charset="0"/>
                          <a:ea typeface="Calibri" pitchFamily="34" charset="-122"/>
                          <a:cs typeface="Calibri" pitchFamily="34" charset="-120"/>
                        </a:rPr>
                        <a:t>Margin Profit</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2B3245"/>
                          </a:solidFill>
                          <a:latin typeface="Calibri" pitchFamily="34" charset="0"/>
                          <a:ea typeface="Calibri" pitchFamily="34" charset="-122"/>
                          <a:cs typeface="Calibri" pitchFamily="34" charset="-120"/>
                        </a:rPr>
                        <a:t>47,9%</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43,6%</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48640">
                <a:tc>
                  <a:txBody>
                    <a:bodyPr/>
                    <a:lstStyle/>
                    <a:p>
                      <a:pPr indent="0" marL="0">
                        <a:buNone/>
                      </a:pPr>
                      <a:r>
                        <a:rPr lang="en-US" sz="1250" dirty="0">
                          <a:solidFill>
                            <a:srgbClr val="2B3245"/>
                          </a:solidFill>
                          <a:latin typeface="Calibri" pitchFamily="34" charset="0"/>
                          <a:ea typeface="Calibri" pitchFamily="34" charset="-122"/>
                          <a:cs typeface="Calibri" pitchFamily="34" charset="-120"/>
                        </a:rPr>
                        <a:t>Provinsi Tanpa Toko Fisik</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2B3245"/>
                          </a:solidFill>
                          <a:latin typeface="Calibri" pitchFamily="34" charset="0"/>
                          <a:ea typeface="Calibri" pitchFamily="34" charset="-122"/>
                          <a:cs typeface="Calibri" pitchFamily="34" charset="-120"/>
                        </a:rPr>
                        <a:t>0 dari 6</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7 dari 12</a:t>
                      </a:r>
                      <a:endParaRPr lang="en-US" sz="12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bl>
          </a:graphicData>
        </a:graphic>
      </p:graphicFrame>
      <p:sp>
        <p:nvSpPr>
          <p:cNvPr id="5" name="Shape 2"/>
          <p:cNvSpPr/>
          <p:nvPr/>
        </p:nvSpPr>
        <p:spPr>
          <a:xfrm>
            <a:off x="548640" y="4572000"/>
            <a:ext cx="6309360" cy="1463040"/>
          </a:xfrm>
          <a:prstGeom prst="roundRect">
            <a:avLst>
              <a:gd name="adj" fmla="val 5000"/>
            </a:avLst>
          </a:prstGeom>
          <a:solidFill>
            <a:srgbClr val="FDF1EF"/>
          </a:solidFill>
          <a:ln/>
        </p:spPr>
      </p:sp>
      <p:sp>
        <p:nvSpPr>
          <p:cNvPr id="6" name="Text 3"/>
          <p:cNvSpPr/>
          <p:nvPr/>
        </p:nvSpPr>
        <p:spPr>
          <a:xfrm>
            <a:off x="777240" y="4709160"/>
            <a:ext cx="585216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7 provinsi tanpa toko fisik sama sekali:</a:t>
            </a:r>
            <a:endParaRPr lang="en-US" sz="1200" dirty="0"/>
          </a:p>
        </p:txBody>
      </p:sp>
      <p:sp>
        <p:nvSpPr>
          <p:cNvPr id="7" name="Text 4"/>
          <p:cNvSpPr/>
          <p:nvPr/>
        </p:nvSpPr>
        <p:spPr>
          <a:xfrm>
            <a:off x="777240" y="5010912"/>
            <a:ext cx="5852160" cy="822960"/>
          </a:xfrm>
          <a:prstGeom prst="rect">
            <a:avLst/>
          </a:prstGeom>
          <a:noFill/>
          <a:ln/>
        </p:spPr>
        <p:txBody>
          <a:bodyPr wrap="square" rtlCol="0" anchor="ctr"/>
          <a:lstStyle/>
          <a:p>
            <a:pPr indent="0" marL="0">
              <a:lnSpc>
                <a:spcPct val="125000"/>
              </a:lnSpc>
              <a:buNone/>
            </a:pPr>
            <a:r>
              <a:rPr lang="en-US" sz="1200" dirty="0">
                <a:solidFill>
                  <a:srgbClr val="2B3245"/>
                </a:solidFill>
                <a:latin typeface="Calibri" pitchFamily="34" charset="0"/>
                <a:ea typeface="Calibri" pitchFamily="34" charset="-122"/>
                <a:cs typeface="Calibri" pitchFamily="34" charset="-120"/>
              </a:rPr>
              <a:t>Lampung, Kalimantan Barat, Sumatera Barat, Kepulauan Riau, Kalimantan Selatan, Riau, Sulawesi Utara</a:t>
            </a:r>
            <a:endParaRPr lang="en-US" sz="1200" dirty="0"/>
          </a:p>
        </p:txBody>
      </p:sp>
      <p:graphicFrame>
        <p:nvGraphicFramePr>
          <p:cNvPr id="8" name="Chart 0" descr=""/>
          <p:cNvGraphicFramePr/>
          <p:nvPr/>
        </p:nvGraphicFramePr>
        <p:xfrm>
          <a:off x="7178040" y="1600200"/>
          <a:ext cx="4480560" cy="44805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10" name="Text 6"/>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08 · KEY FINDING 3</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Tren Luar Jawa Terus Melemah</a:t>
            </a:r>
            <a:endParaRPr lang="en-US" sz="3000" dirty="0"/>
          </a:p>
        </p:txBody>
      </p:sp>
      <p:graphicFrame>
        <p:nvGraphicFramePr>
          <p:cNvPr id="4" name="Chart 0" descr=""/>
          <p:cNvGraphicFramePr/>
          <p:nvPr/>
        </p:nvGraphicFramePr>
        <p:xfrm>
          <a:off x="548640" y="155448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26680" y="1554480"/>
            <a:ext cx="3931920" cy="1371600"/>
          </a:xfrm>
          <a:prstGeom prst="roundRect">
            <a:avLst>
              <a:gd name="adj" fmla="val 5333"/>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6" name="Text 3"/>
          <p:cNvSpPr/>
          <p:nvPr/>
        </p:nvSpPr>
        <p:spPr>
          <a:xfrm>
            <a:off x="7818120" y="1664208"/>
            <a:ext cx="3749040" cy="754380"/>
          </a:xfrm>
          <a:prstGeom prst="rect">
            <a:avLst/>
          </a:prstGeom>
          <a:noFill/>
          <a:ln/>
        </p:spPr>
        <p:txBody>
          <a:bodyPr wrap="square" lIns="0" tIns="0" rIns="0" bIns="0" rtlCol="0" anchor="b"/>
          <a:lstStyle/>
          <a:p>
            <a:pPr algn="l" indent="0" marL="0">
              <a:buNone/>
            </a:pPr>
            <a:r>
              <a:rPr lang="en-US" sz="2400" b="1" dirty="0">
                <a:solidFill>
                  <a:srgbClr val="1E8F6F"/>
                </a:solidFill>
                <a:latin typeface="Cambria" pitchFamily="34" charset="0"/>
                <a:ea typeface="Cambria" pitchFamily="34" charset="-122"/>
                <a:cs typeface="Cambria" pitchFamily="34" charset="-120"/>
              </a:rPr>
              <a:t>+1,56%</a:t>
            </a:r>
            <a:endParaRPr lang="en-US" sz="2400" dirty="0"/>
          </a:p>
        </p:txBody>
      </p:sp>
      <p:sp>
        <p:nvSpPr>
          <p:cNvPr id="7" name="Text 4"/>
          <p:cNvSpPr/>
          <p:nvPr/>
        </p:nvSpPr>
        <p:spPr>
          <a:xfrm>
            <a:off x="7818120" y="2404872"/>
            <a:ext cx="3749040" cy="480060"/>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Pertumbuhan Jawa (Jan → Des)</a:t>
            </a:r>
            <a:endParaRPr lang="en-US" sz="1050" dirty="0"/>
          </a:p>
        </p:txBody>
      </p:sp>
      <p:sp>
        <p:nvSpPr>
          <p:cNvPr id="8" name="Shape 5"/>
          <p:cNvSpPr/>
          <p:nvPr/>
        </p:nvSpPr>
        <p:spPr>
          <a:xfrm>
            <a:off x="7726680" y="3063240"/>
            <a:ext cx="3931920" cy="1371600"/>
          </a:xfrm>
          <a:prstGeom prst="roundRect">
            <a:avLst>
              <a:gd name="adj" fmla="val 5333"/>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9" name="Text 6"/>
          <p:cNvSpPr/>
          <p:nvPr/>
        </p:nvSpPr>
        <p:spPr>
          <a:xfrm>
            <a:off x="7818120" y="3172968"/>
            <a:ext cx="3749040" cy="754380"/>
          </a:xfrm>
          <a:prstGeom prst="rect">
            <a:avLst/>
          </a:prstGeom>
          <a:noFill/>
          <a:ln/>
        </p:spPr>
        <p:txBody>
          <a:bodyPr wrap="square" lIns="0" tIns="0" rIns="0" bIns="0" rtlCol="0" anchor="b"/>
          <a:lstStyle/>
          <a:p>
            <a:pPr algn="l" indent="0" marL="0">
              <a:buNone/>
            </a:pPr>
            <a:r>
              <a:rPr lang="en-US" sz="2400" b="1" dirty="0">
                <a:solidFill>
                  <a:srgbClr val="C0392B"/>
                </a:solidFill>
                <a:latin typeface="Cambria" pitchFamily="34" charset="0"/>
                <a:ea typeface="Cambria" pitchFamily="34" charset="-122"/>
                <a:cs typeface="Cambria" pitchFamily="34" charset="-120"/>
              </a:rPr>
              <a:t>-4,82%</a:t>
            </a:r>
            <a:endParaRPr lang="en-US" sz="2400" dirty="0"/>
          </a:p>
        </p:txBody>
      </p:sp>
      <p:sp>
        <p:nvSpPr>
          <p:cNvPr id="10" name="Text 7"/>
          <p:cNvSpPr/>
          <p:nvPr/>
        </p:nvSpPr>
        <p:spPr>
          <a:xfrm>
            <a:off x="7818120" y="3913632"/>
            <a:ext cx="3749040" cy="480060"/>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Penurunan Luar Jawa (Jan → Des)</a:t>
            </a:r>
            <a:endParaRPr lang="en-US" sz="1050" dirty="0"/>
          </a:p>
        </p:txBody>
      </p:sp>
      <p:sp>
        <p:nvSpPr>
          <p:cNvPr id="11" name="Shape 8"/>
          <p:cNvSpPr/>
          <p:nvPr/>
        </p:nvSpPr>
        <p:spPr>
          <a:xfrm>
            <a:off x="7726680" y="4572000"/>
            <a:ext cx="3931920" cy="1371600"/>
          </a:xfrm>
          <a:prstGeom prst="roundRect">
            <a:avLst>
              <a:gd name="adj" fmla="val 5333"/>
            </a:avLst>
          </a:prstGeom>
          <a:solidFill>
            <a:srgbClr val="FFFFFF"/>
          </a:solidFill>
          <a:ln w="12700">
            <a:solidFill>
              <a:srgbClr val="E3E9F2"/>
            </a:solidFill>
            <a:prstDash val="solid"/>
          </a:ln>
          <a:effectLst>
            <a:outerShdw sx="100000" sy="100000" kx="0" ky="0" algn="bl" rotWithShape="0" blurRad="76200" dist="25400" dir="5400000">
              <a:srgbClr val="1E2761">
                <a:alpha val="12000"/>
              </a:srgbClr>
            </a:outerShdw>
          </a:effectLst>
        </p:spPr>
      </p:sp>
      <p:sp>
        <p:nvSpPr>
          <p:cNvPr id="12" name="Text 9"/>
          <p:cNvSpPr/>
          <p:nvPr/>
        </p:nvSpPr>
        <p:spPr>
          <a:xfrm>
            <a:off x="7818120" y="4681728"/>
            <a:ext cx="3749040" cy="754380"/>
          </a:xfrm>
          <a:prstGeom prst="rect">
            <a:avLst/>
          </a:prstGeom>
          <a:noFill/>
          <a:ln/>
        </p:spPr>
        <p:txBody>
          <a:bodyPr wrap="square" lIns="0" tIns="0" rIns="0" bIns="0" rtlCol="0" anchor="b"/>
          <a:lstStyle/>
          <a:p>
            <a:pPr algn="l" indent="0" marL="0">
              <a:buNone/>
            </a:pPr>
            <a:r>
              <a:rPr lang="en-US" sz="2400" b="1" dirty="0">
                <a:solidFill>
                  <a:srgbClr val="C0392B"/>
                </a:solidFill>
                <a:latin typeface="Cambria" pitchFamily="34" charset="0"/>
                <a:ea typeface="Cambria" pitchFamily="34" charset="-122"/>
                <a:cs typeface="Cambria" pitchFamily="34" charset="-120"/>
              </a:rPr>
              <a:t>-7,81%</a:t>
            </a:r>
            <a:endParaRPr lang="en-US" sz="2400" dirty="0"/>
          </a:p>
        </p:txBody>
      </p:sp>
      <p:sp>
        <p:nvSpPr>
          <p:cNvPr id="13" name="Text 10"/>
          <p:cNvSpPr/>
          <p:nvPr/>
        </p:nvSpPr>
        <p:spPr>
          <a:xfrm>
            <a:off x="7818120" y="5422392"/>
            <a:ext cx="3749040" cy="480060"/>
          </a:xfrm>
          <a:prstGeom prst="rect">
            <a:avLst/>
          </a:prstGeom>
          <a:noFill/>
          <a:ln/>
        </p:spPr>
        <p:txBody>
          <a:bodyPr wrap="square" lIns="0" tIns="0" rIns="0" bIns="0" rtlCol="0" anchor="t"/>
          <a:lstStyle/>
          <a:p>
            <a:pPr algn="l" indent="0" marL="0">
              <a:buNone/>
            </a:pPr>
            <a:r>
              <a:rPr lang="en-US" sz="1050" dirty="0">
                <a:solidFill>
                  <a:srgbClr val="6E7B91"/>
                </a:solidFill>
                <a:latin typeface="Calibri" pitchFamily="34" charset="0"/>
                <a:ea typeface="Calibri" pitchFamily="34" charset="-122"/>
                <a:cs typeface="Calibri" pitchFamily="34" charset="-120"/>
              </a:rPr>
              <a:t>Penurunan tertajam: provinsi tanpa toko fisik</a:t>
            </a:r>
            <a:endParaRPr lang="en-US" sz="1050" dirty="0"/>
          </a:p>
        </p:txBody>
      </p:sp>
      <p:sp>
        <p:nvSpPr>
          <p:cNvPr id="14" name="Text 11"/>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15" name="Text 12"/>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09 · ROOT CAUSE</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Kenapa Gap Ini Terjadi?</a:t>
            </a:r>
            <a:endParaRPr lang="en-US" sz="3000" dirty="0"/>
          </a:p>
        </p:txBody>
      </p:sp>
      <p:graphicFrame>
        <p:nvGraphicFramePr>
          <p:cNvPr id="4" name="Chart 0" descr=""/>
          <p:cNvGraphicFramePr/>
          <p:nvPr/>
        </p:nvGraphicFramePr>
        <p:xfrm>
          <a:off x="548640" y="160020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257800"/>
            <a:ext cx="6035040" cy="640080"/>
          </a:xfrm>
          <a:prstGeom prst="rect">
            <a:avLst/>
          </a:prstGeom>
          <a:noFill/>
          <a:ln/>
        </p:spPr>
        <p:txBody>
          <a:bodyPr wrap="square" rtlCol="0" anchor="ctr"/>
          <a:lstStyle/>
          <a:p>
            <a:pPr indent="0" marL="0">
              <a:lnSpc>
                <a:spcPct val="120000"/>
              </a:lnSpc>
              <a:buNone/>
            </a:pPr>
            <a:r>
              <a:rPr lang="en-US" sz="1150" i="1" dirty="0">
                <a:solidFill>
                  <a:srgbClr val="6E7B91"/>
                </a:solidFill>
                <a:latin typeface="Calibri" pitchFamily="34" charset="0"/>
                <a:ea typeface="Calibri" pitchFamily="34" charset="-122"/>
                <a:cs typeface="Calibri" pitchFamily="34" charset="-120"/>
              </a:rPr>
              <a:t>Ongkir ke provinsi tanpa toko fisik mencapai hampir 3x lipat Jawa — langsung menggerus margin.</a:t>
            </a:r>
            <a:endParaRPr lang="en-US" sz="1150" dirty="0"/>
          </a:p>
        </p:txBody>
      </p:sp>
      <p:sp>
        <p:nvSpPr>
          <p:cNvPr id="6" name="Shape 3"/>
          <p:cNvSpPr/>
          <p:nvPr/>
        </p:nvSpPr>
        <p:spPr>
          <a:xfrm>
            <a:off x="6903720" y="1645920"/>
            <a:ext cx="457200" cy="457200"/>
          </a:xfrm>
          <a:prstGeom prst="ellipse">
            <a:avLst/>
          </a:prstGeom>
          <a:solidFill>
            <a:srgbClr val="0B2545"/>
          </a:solidFill>
          <a:ln/>
        </p:spPr>
      </p:sp>
      <p:sp>
        <p:nvSpPr>
          <p:cNvPr id="7" name="Text 4"/>
          <p:cNvSpPr txBox="1"/>
          <p:nvPr/>
        </p:nvSpPr>
        <p:spPr>
          <a:xfrm>
            <a:off x="6903720" y="1645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p:nvPr/>
        </p:nvSpPr>
        <p:spPr>
          <a:xfrm>
            <a:off x="7498080" y="1600200"/>
            <a:ext cx="416052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Jaringan toko fisik terkonsentrasi di Jawa</a:t>
            </a:r>
            <a:endParaRPr lang="en-US" sz="1300" dirty="0"/>
          </a:p>
        </p:txBody>
      </p:sp>
      <p:sp>
        <p:nvSpPr>
          <p:cNvPr id="9" name="Text 6"/>
          <p:cNvSpPr/>
          <p:nvPr/>
        </p:nvSpPr>
        <p:spPr>
          <a:xfrm>
            <a:off x="7498080" y="1965960"/>
            <a:ext cx="4160520" cy="685800"/>
          </a:xfrm>
          <a:prstGeom prst="rect">
            <a:avLst/>
          </a:prstGeom>
          <a:noFill/>
          <a:ln/>
        </p:spPr>
        <p:txBody>
          <a:bodyPr wrap="square" rtlCol="0" anchor="ctr"/>
          <a:lstStyle/>
          <a:p>
            <a:pPr indent="0" marL="0">
              <a:lnSpc>
                <a:spcPct val="120000"/>
              </a:lnSpc>
              <a:buNone/>
            </a:pPr>
            <a:r>
              <a:rPr lang="en-US" sz="1150" dirty="0">
                <a:solidFill>
                  <a:srgbClr val="2B3245"/>
                </a:solidFill>
                <a:latin typeface="Calibri" pitchFamily="34" charset="0"/>
                <a:ea typeface="Calibri" pitchFamily="34" charset="-122"/>
                <a:cs typeface="Calibri" pitchFamily="34" charset="-120"/>
              </a:rPr>
              <a:t>10 toko di 6 provinsi Jawa, vs hanya 5 toko di 12 provinsi Luar Jawa.</a:t>
            </a:r>
            <a:endParaRPr lang="en-US" sz="1150" dirty="0"/>
          </a:p>
        </p:txBody>
      </p:sp>
      <p:sp>
        <p:nvSpPr>
          <p:cNvPr id="10" name="Text 7"/>
          <p:cNvSpPr/>
          <p:nvPr/>
        </p:nvSpPr>
        <p:spPr>
          <a:xfrm>
            <a:off x="6967728" y="2121408"/>
            <a:ext cx="320040" cy="457200"/>
          </a:xfrm>
          <a:prstGeom prst="rect">
            <a:avLst/>
          </a:prstGeom>
          <a:noFill/>
          <a:ln/>
        </p:spPr>
        <p:txBody>
          <a:bodyPr wrap="square" rtlCol="0" anchor="ctr"/>
          <a:lstStyle/>
          <a:p>
            <a:pPr algn="ctr" indent="0" marL="0">
              <a:buNone/>
            </a:pPr>
            <a:r>
              <a:rPr lang="en-US" sz="1600" dirty="0">
                <a:solidFill>
                  <a:srgbClr val="1C7293"/>
                </a:solidFill>
              </a:rPr>
              <a:t>↓</a:t>
            </a:r>
            <a:endParaRPr lang="en-US" sz="1600" dirty="0"/>
          </a:p>
        </p:txBody>
      </p:sp>
      <p:sp>
        <p:nvSpPr>
          <p:cNvPr id="11" name="Shape 8"/>
          <p:cNvSpPr/>
          <p:nvPr/>
        </p:nvSpPr>
        <p:spPr>
          <a:xfrm>
            <a:off x="6903720" y="3063240"/>
            <a:ext cx="457200" cy="457200"/>
          </a:xfrm>
          <a:prstGeom prst="ellipse">
            <a:avLst/>
          </a:prstGeom>
          <a:solidFill>
            <a:srgbClr val="0B2545"/>
          </a:solidFill>
          <a:ln/>
        </p:spPr>
      </p:sp>
      <p:sp>
        <p:nvSpPr>
          <p:cNvPr id="12" name="Text 9"/>
          <p:cNvSpPr txBox="1"/>
          <p:nvPr/>
        </p:nvSpPr>
        <p:spPr>
          <a:xfrm>
            <a:off x="6903720" y="30632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p:nvPr/>
        </p:nvSpPr>
        <p:spPr>
          <a:xfrm>
            <a:off x="7498080" y="3017520"/>
            <a:ext cx="416052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58% provinsi Luar Jawa tanpa toko fisik</a:t>
            </a:r>
            <a:endParaRPr lang="en-US" sz="1300" dirty="0"/>
          </a:p>
        </p:txBody>
      </p:sp>
      <p:sp>
        <p:nvSpPr>
          <p:cNvPr id="14" name="Text 11"/>
          <p:cNvSpPr/>
          <p:nvPr/>
        </p:nvSpPr>
        <p:spPr>
          <a:xfrm>
            <a:off x="7498080" y="3383280"/>
            <a:ext cx="4160520" cy="685800"/>
          </a:xfrm>
          <a:prstGeom prst="rect">
            <a:avLst/>
          </a:prstGeom>
          <a:noFill/>
          <a:ln/>
        </p:spPr>
        <p:txBody>
          <a:bodyPr wrap="square" rtlCol="0" anchor="ctr"/>
          <a:lstStyle/>
          <a:p>
            <a:pPr indent="0" marL="0">
              <a:lnSpc>
                <a:spcPct val="120000"/>
              </a:lnSpc>
              <a:buNone/>
            </a:pPr>
            <a:r>
              <a:rPr lang="en-US" sz="1150" dirty="0">
                <a:solidFill>
                  <a:srgbClr val="2B3245"/>
                </a:solidFill>
                <a:latin typeface="Calibri" pitchFamily="34" charset="0"/>
                <a:ea typeface="Calibri" pitchFamily="34" charset="-122"/>
                <a:cs typeface="Calibri" pitchFamily="34" charset="-120"/>
              </a:rPr>
              <a:t>7 dari 12 provinsi hanya mengandalkan penjualan online.</a:t>
            </a:r>
            <a:endParaRPr lang="en-US" sz="1150" dirty="0"/>
          </a:p>
        </p:txBody>
      </p:sp>
      <p:sp>
        <p:nvSpPr>
          <p:cNvPr id="15" name="Text 12"/>
          <p:cNvSpPr/>
          <p:nvPr/>
        </p:nvSpPr>
        <p:spPr>
          <a:xfrm>
            <a:off x="6967728" y="3538728"/>
            <a:ext cx="320040" cy="457200"/>
          </a:xfrm>
          <a:prstGeom prst="rect">
            <a:avLst/>
          </a:prstGeom>
          <a:noFill/>
          <a:ln/>
        </p:spPr>
        <p:txBody>
          <a:bodyPr wrap="square" rtlCol="0" anchor="ctr"/>
          <a:lstStyle/>
          <a:p>
            <a:pPr algn="ctr" indent="0" marL="0">
              <a:buNone/>
            </a:pPr>
            <a:r>
              <a:rPr lang="en-US" sz="1600" dirty="0">
                <a:solidFill>
                  <a:srgbClr val="1C7293"/>
                </a:solidFill>
              </a:rPr>
              <a:t>↓</a:t>
            </a:r>
            <a:endParaRPr lang="en-US" sz="1600" dirty="0"/>
          </a:p>
        </p:txBody>
      </p:sp>
      <p:sp>
        <p:nvSpPr>
          <p:cNvPr id="16" name="Shape 13"/>
          <p:cNvSpPr/>
          <p:nvPr/>
        </p:nvSpPr>
        <p:spPr>
          <a:xfrm>
            <a:off x="6903720" y="4480560"/>
            <a:ext cx="457200" cy="457200"/>
          </a:xfrm>
          <a:prstGeom prst="ellipse">
            <a:avLst/>
          </a:prstGeom>
          <a:solidFill>
            <a:srgbClr val="0B2545"/>
          </a:solidFill>
          <a:ln/>
        </p:spPr>
      </p:sp>
      <p:sp>
        <p:nvSpPr>
          <p:cNvPr id="17" name="Text 14"/>
          <p:cNvSpPr txBox="1"/>
          <p:nvPr/>
        </p:nvSpPr>
        <p:spPr>
          <a:xfrm>
            <a:off x="6903720" y="4480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5"/>
          <p:cNvSpPr/>
          <p:nvPr/>
        </p:nvSpPr>
        <p:spPr>
          <a:xfrm>
            <a:off x="7498080" y="4434840"/>
            <a:ext cx="416052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Biaya ongkir melonjak, margin tergerus</a:t>
            </a:r>
            <a:endParaRPr lang="en-US" sz="1300" dirty="0"/>
          </a:p>
        </p:txBody>
      </p:sp>
      <p:sp>
        <p:nvSpPr>
          <p:cNvPr id="19" name="Text 16"/>
          <p:cNvSpPr/>
          <p:nvPr/>
        </p:nvSpPr>
        <p:spPr>
          <a:xfrm>
            <a:off x="7498080" y="4800600"/>
            <a:ext cx="4160520" cy="685800"/>
          </a:xfrm>
          <a:prstGeom prst="rect">
            <a:avLst/>
          </a:prstGeom>
          <a:noFill/>
          <a:ln/>
        </p:spPr>
        <p:txBody>
          <a:bodyPr wrap="square" rtlCol="0" anchor="ctr"/>
          <a:lstStyle/>
          <a:p>
            <a:pPr indent="0" marL="0">
              <a:lnSpc>
                <a:spcPct val="120000"/>
              </a:lnSpc>
              <a:buNone/>
            </a:pPr>
            <a:r>
              <a:rPr lang="en-US" sz="1150" dirty="0">
                <a:solidFill>
                  <a:srgbClr val="2B3245"/>
                </a:solidFill>
                <a:latin typeface="Calibri" pitchFamily="34" charset="0"/>
                <a:ea typeface="Calibri" pitchFamily="34" charset="-122"/>
                <a:cs typeface="Calibri" pitchFamily="34" charset="-120"/>
              </a:rPr>
              <a:t>Ongkir hingga 3x lipat menekan margin 4,3 poin di Luar Jawa.</a:t>
            </a:r>
            <a:endParaRPr lang="en-US" sz="1150" dirty="0"/>
          </a:p>
        </p:txBody>
      </p:sp>
      <p:sp>
        <p:nvSpPr>
          <p:cNvPr id="20" name="Text 17"/>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21" name="Text 18"/>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10 · BUSINESS IMPACT</a:t>
            </a:r>
            <a:endParaRPr lang="en-US" sz="1300" dirty="0"/>
          </a:p>
        </p:txBody>
      </p:sp>
      <p:sp>
        <p:nvSpPr>
          <p:cNvPr id="3" name="Text 1"/>
          <p:cNvSpPr/>
          <p:nvPr/>
        </p:nvSpPr>
        <p:spPr>
          <a:xfrm>
            <a:off x="548640" y="749808"/>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Dampak Terhadap Bisnis</a:t>
            </a:r>
            <a:endParaRPr lang="en-US" sz="3000" dirty="0"/>
          </a:p>
        </p:txBody>
      </p:sp>
      <p:sp>
        <p:nvSpPr>
          <p:cNvPr id="4" name="Shape 2"/>
          <p:cNvSpPr/>
          <p:nvPr/>
        </p:nvSpPr>
        <p:spPr>
          <a:xfrm>
            <a:off x="548640" y="1874520"/>
            <a:ext cx="3453384" cy="2286000"/>
          </a:xfrm>
          <a:prstGeom prst="roundRect">
            <a:avLst>
              <a:gd name="adj" fmla="val 4000"/>
            </a:avLst>
          </a:prstGeom>
          <a:solidFill>
            <a:srgbClr val="13305C"/>
          </a:solidFill>
          <a:ln w="12700">
            <a:solidFill>
              <a:srgbClr val="1C7293"/>
            </a:solidFill>
            <a:prstDash val="solid"/>
          </a:ln>
        </p:spPr>
      </p:sp>
      <p:sp>
        <p:nvSpPr>
          <p:cNvPr id="5" name="Text 3"/>
          <p:cNvSpPr/>
          <p:nvPr/>
        </p:nvSpPr>
        <p:spPr>
          <a:xfrm>
            <a:off x="822960" y="2148840"/>
            <a:ext cx="2904744" cy="822960"/>
          </a:xfrm>
          <a:prstGeom prst="rect">
            <a:avLst/>
          </a:prstGeom>
          <a:noFill/>
          <a:ln/>
        </p:spPr>
        <p:txBody>
          <a:bodyPr wrap="square" rtlCol="0" anchor="ctr"/>
          <a:lstStyle/>
          <a:p>
            <a:pPr indent="0" marL="0">
              <a:buNone/>
            </a:pPr>
            <a:r>
              <a:rPr lang="en-US" sz="3200" b="1" dirty="0">
                <a:solidFill>
                  <a:srgbClr val="F3B49C"/>
                </a:solidFill>
                <a:latin typeface="Cambria" pitchFamily="34" charset="0"/>
                <a:ea typeface="Cambria" pitchFamily="34" charset="-122"/>
                <a:cs typeface="Cambria" pitchFamily="34" charset="-120"/>
              </a:rPr>
              <a:t>19,7%</a:t>
            </a:r>
            <a:endParaRPr lang="en-US" sz="3200" dirty="0"/>
          </a:p>
        </p:txBody>
      </p:sp>
      <p:sp>
        <p:nvSpPr>
          <p:cNvPr id="6" name="Text 4"/>
          <p:cNvSpPr/>
          <p:nvPr/>
        </p:nvSpPr>
        <p:spPr>
          <a:xfrm>
            <a:off x="822960" y="3063240"/>
            <a:ext cx="2904744" cy="960120"/>
          </a:xfrm>
          <a:prstGeom prst="rect">
            <a:avLst/>
          </a:prstGeom>
          <a:noFill/>
          <a:ln/>
        </p:spPr>
        <p:txBody>
          <a:bodyPr wrap="square" rtlCol="0" anchor="ctr"/>
          <a:lstStyle/>
          <a:p>
            <a:pPr indent="0" marL="0">
              <a:lnSpc>
                <a:spcPct val="125000"/>
              </a:lnSpc>
              <a:buNone/>
            </a:pPr>
            <a:r>
              <a:rPr lang="en-US" sz="1250" dirty="0">
                <a:solidFill>
                  <a:srgbClr val="CADCFC"/>
                </a:solidFill>
                <a:latin typeface="Calibri" pitchFamily="34" charset="0"/>
                <a:ea typeface="Calibri" pitchFamily="34" charset="-122"/>
                <a:cs typeface="Calibri" pitchFamily="34" charset="-120"/>
              </a:rPr>
              <a:t>Kontribusi revenue dari 7 provinsi tanpa toko fisik — jauh di bawah potensinya</a:t>
            </a:r>
            <a:endParaRPr lang="en-US" sz="1250" dirty="0"/>
          </a:p>
        </p:txBody>
      </p:sp>
      <p:sp>
        <p:nvSpPr>
          <p:cNvPr id="7" name="Shape 5"/>
          <p:cNvSpPr/>
          <p:nvPr/>
        </p:nvSpPr>
        <p:spPr>
          <a:xfrm>
            <a:off x="4367784" y="1874520"/>
            <a:ext cx="3453384" cy="2286000"/>
          </a:xfrm>
          <a:prstGeom prst="roundRect">
            <a:avLst>
              <a:gd name="adj" fmla="val 4000"/>
            </a:avLst>
          </a:prstGeom>
          <a:solidFill>
            <a:srgbClr val="13305C"/>
          </a:solidFill>
          <a:ln w="12700">
            <a:solidFill>
              <a:srgbClr val="1C7293"/>
            </a:solidFill>
            <a:prstDash val="solid"/>
          </a:ln>
        </p:spPr>
      </p:sp>
      <p:sp>
        <p:nvSpPr>
          <p:cNvPr id="8" name="Text 6"/>
          <p:cNvSpPr/>
          <p:nvPr/>
        </p:nvSpPr>
        <p:spPr>
          <a:xfrm>
            <a:off x="4642104" y="2148840"/>
            <a:ext cx="2904744" cy="822960"/>
          </a:xfrm>
          <a:prstGeom prst="rect">
            <a:avLst/>
          </a:prstGeom>
          <a:noFill/>
          <a:ln/>
        </p:spPr>
        <p:txBody>
          <a:bodyPr wrap="square" rtlCol="0" anchor="ctr"/>
          <a:lstStyle/>
          <a:p>
            <a:pPr indent="0" marL="0">
              <a:buNone/>
            </a:pPr>
            <a:r>
              <a:rPr lang="en-US" sz="3200" b="1" dirty="0">
                <a:solidFill>
                  <a:srgbClr val="6FE3C1"/>
                </a:solidFill>
                <a:latin typeface="Cambria" pitchFamily="34" charset="0"/>
                <a:ea typeface="Cambria" pitchFamily="34" charset="-122"/>
                <a:cs typeface="Cambria" pitchFamily="34" charset="-120"/>
              </a:rPr>
              <a:t>Rp 377 Jt</a:t>
            </a:r>
            <a:endParaRPr lang="en-US" sz="3200" dirty="0"/>
          </a:p>
        </p:txBody>
      </p:sp>
      <p:sp>
        <p:nvSpPr>
          <p:cNvPr id="9" name="Text 7"/>
          <p:cNvSpPr/>
          <p:nvPr/>
        </p:nvSpPr>
        <p:spPr>
          <a:xfrm>
            <a:off x="4642104" y="3063240"/>
            <a:ext cx="2904744" cy="960120"/>
          </a:xfrm>
          <a:prstGeom prst="rect">
            <a:avLst/>
          </a:prstGeom>
          <a:noFill/>
          <a:ln/>
        </p:spPr>
        <p:txBody>
          <a:bodyPr wrap="square" rtlCol="0" anchor="ctr"/>
          <a:lstStyle/>
          <a:p>
            <a:pPr indent="0" marL="0">
              <a:lnSpc>
                <a:spcPct val="125000"/>
              </a:lnSpc>
              <a:buNone/>
            </a:pPr>
            <a:r>
              <a:rPr lang="en-US" sz="1250" dirty="0">
                <a:solidFill>
                  <a:srgbClr val="CADCFC"/>
                </a:solidFill>
                <a:latin typeface="Calibri" pitchFamily="34" charset="0"/>
                <a:ea typeface="Calibri" pitchFamily="34" charset="-122"/>
                <a:cs typeface="Calibri" pitchFamily="34" charset="-120"/>
              </a:rPr>
              <a:t>Estimasi profit tambahan/tahun bila margin Luar Jawa setara Jawa</a:t>
            </a:r>
            <a:endParaRPr lang="en-US" sz="1250" dirty="0"/>
          </a:p>
        </p:txBody>
      </p:sp>
      <p:sp>
        <p:nvSpPr>
          <p:cNvPr id="10" name="Shape 8"/>
          <p:cNvSpPr/>
          <p:nvPr/>
        </p:nvSpPr>
        <p:spPr>
          <a:xfrm>
            <a:off x="8186928" y="1874520"/>
            <a:ext cx="3453384" cy="2286000"/>
          </a:xfrm>
          <a:prstGeom prst="roundRect">
            <a:avLst>
              <a:gd name="adj" fmla="val 4000"/>
            </a:avLst>
          </a:prstGeom>
          <a:solidFill>
            <a:srgbClr val="13305C"/>
          </a:solidFill>
          <a:ln w="12700">
            <a:solidFill>
              <a:srgbClr val="1C7293"/>
            </a:solidFill>
            <a:prstDash val="solid"/>
          </a:ln>
        </p:spPr>
      </p:sp>
      <p:sp>
        <p:nvSpPr>
          <p:cNvPr id="11" name="Text 9"/>
          <p:cNvSpPr/>
          <p:nvPr/>
        </p:nvSpPr>
        <p:spPr>
          <a:xfrm>
            <a:off x="8461248" y="2148840"/>
            <a:ext cx="2904744" cy="822960"/>
          </a:xfrm>
          <a:prstGeom prst="rect">
            <a:avLst/>
          </a:prstGeom>
          <a:noFill/>
          <a:ln/>
        </p:spPr>
        <p:txBody>
          <a:bodyPr wrap="square" rtlCol="0" anchor="ctr"/>
          <a:lstStyle/>
          <a:p>
            <a:pPr indent="0" marL="0">
              <a:buNone/>
            </a:pPr>
            <a:r>
              <a:rPr lang="en-US" sz="3200" b="1" dirty="0">
                <a:solidFill>
                  <a:srgbClr val="F3B49C"/>
                </a:solidFill>
                <a:latin typeface="Cambria" pitchFamily="34" charset="0"/>
                <a:ea typeface="Cambria" pitchFamily="34" charset="-122"/>
                <a:cs typeface="Cambria" pitchFamily="34" charset="-120"/>
              </a:rPr>
              <a:t>-4,8%</a:t>
            </a:r>
            <a:endParaRPr lang="en-US" sz="3200" dirty="0"/>
          </a:p>
        </p:txBody>
      </p:sp>
      <p:sp>
        <p:nvSpPr>
          <p:cNvPr id="12" name="Text 10"/>
          <p:cNvSpPr/>
          <p:nvPr/>
        </p:nvSpPr>
        <p:spPr>
          <a:xfrm>
            <a:off x="8461248" y="3063240"/>
            <a:ext cx="2904744" cy="960120"/>
          </a:xfrm>
          <a:prstGeom prst="rect">
            <a:avLst/>
          </a:prstGeom>
          <a:noFill/>
          <a:ln/>
        </p:spPr>
        <p:txBody>
          <a:bodyPr wrap="square" rtlCol="0" anchor="ctr"/>
          <a:lstStyle/>
          <a:p>
            <a:pPr indent="0" marL="0">
              <a:lnSpc>
                <a:spcPct val="125000"/>
              </a:lnSpc>
              <a:buNone/>
            </a:pPr>
            <a:r>
              <a:rPr lang="en-US" sz="1250" dirty="0">
                <a:solidFill>
                  <a:srgbClr val="CADCFC"/>
                </a:solidFill>
                <a:latin typeface="Calibri" pitchFamily="34" charset="0"/>
                <a:ea typeface="Calibri" pitchFamily="34" charset="-122"/>
                <a:cs typeface="Calibri" pitchFamily="34" charset="-120"/>
              </a:rPr>
              <a:t>Tren revenue Luar Jawa yang akan terus melebar bila dibiarkan</a:t>
            </a:r>
            <a:endParaRPr lang="en-US" sz="1250" dirty="0"/>
          </a:p>
        </p:txBody>
      </p:sp>
      <p:sp>
        <p:nvSpPr>
          <p:cNvPr id="13" name="Shape 11"/>
          <p:cNvSpPr/>
          <p:nvPr/>
        </p:nvSpPr>
        <p:spPr>
          <a:xfrm>
            <a:off x="548640" y="4480560"/>
            <a:ext cx="11091672" cy="1554480"/>
          </a:xfrm>
          <a:prstGeom prst="roundRect">
            <a:avLst>
              <a:gd name="adj" fmla="val 4706"/>
            </a:avLst>
          </a:prstGeom>
          <a:solidFill>
            <a:srgbClr val="13305C"/>
          </a:solidFill>
          <a:ln/>
        </p:spPr>
      </p:sp>
      <p:sp>
        <p:nvSpPr>
          <p:cNvPr id="14" name="Text 12"/>
          <p:cNvSpPr/>
          <p:nvPr/>
        </p:nvSpPr>
        <p:spPr>
          <a:xfrm>
            <a:off x="822960" y="4663440"/>
            <a:ext cx="10543032" cy="320040"/>
          </a:xfrm>
          <a:prstGeom prst="rect">
            <a:avLst/>
          </a:prstGeom>
          <a:noFill/>
          <a:ln/>
        </p:spPr>
        <p:txBody>
          <a:bodyPr wrap="square" rtlCol="0" anchor="ctr"/>
          <a:lstStyle/>
          <a:p>
            <a:pPr indent="0" marL="0">
              <a:buNone/>
            </a:pPr>
            <a:r>
              <a:rPr lang="en-US" sz="1350" b="1" dirty="0">
                <a:solidFill>
                  <a:srgbClr val="6FE3C1"/>
                </a:solidFill>
                <a:latin typeface="Calibri" pitchFamily="34" charset="0"/>
                <a:ea typeface="Calibri" pitchFamily="34" charset="-122"/>
                <a:cs typeface="Calibri" pitchFamily="34" charset="-120"/>
              </a:rPr>
              <a:t>Opportunity: Kalimantan Timur Membuktikan Model Ini Bisa Berhasil</a:t>
            </a:r>
            <a:endParaRPr lang="en-US" sz="1350" dirty="0"/>
          </a:p>
        </p:txBody>
      </p:sp>
      <p:sp>
        <p:nvSpPr>
          <p:cNvPr id="15" name="Text 13"/>
          <p:cNvSpPr/>
          <p:nvPr/>
        </p:nvSpPr>
        <p:spPr>
          <a:xfrm>
            <a:off x="822960" y="5029200"/>
            <a:ext cx="10543032" cy="914400"/>
          </a:xfrm>
          <a:prstGeom prst="rect">
            <a:avLst/>
          </a:prstGeom>
          <a:noFill/>
          <a:ln/>
        </p:spPr>
        <p:txBody>
          <a:bodyPr wrap="square" rtlCol="0" anchor="ctr"/>
          <a:lstStyle/>
          <a:p>
            <a:pPr indent="0" marL="0">
              <a:lnSpc>
                <a:spcPct val="125000"/>
              </a:lnSpc>
              <a:buNone/>
            </a:pPr>
            <a:r>
              <a:rPr lang="en-US" sz="1250" dirty="0">
                <a:solidFill>
                  <a:srgbClr val="CADCFC"/>
                </a:solidFill>
                <a:latin typeface="Calibri" pitchFamily="34" charset="0"/>
                <a:ea typeface="Calibri" pitchFamily="34" charset="-122"/>
                <a:cs typeface="Calibri" pitchFamily="34" charset="-120"/>
              </a:rPr>
              <a:t>Dengan 1 toko fisik + online, Kaltim mencatat revenue tertinggi di Luar Jawa dengan margin mendekati rata-rata Jawa — membuktikan kombinasi toko fisik + online bisa direplikasi ke provinsi lain.</a:t>
            </a:r>
            <a:endParaRPr lang="en-US" sz="1250" dirty="0"/>
          </a:p>
        </p:txBody>
      </p:sp>
      <p:sp>
        <p:nvSpPr>
          <p:cNvPr id="16" name="Text 14"/>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9FB3D9"/>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17" name="Text 15"/>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9FB3D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11 · RECOMMENDATION</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Tiga Langkah Prioritas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3108960"/>
        </p:xfrm>
        <a:graphic>
          <a:graphicData uri="http://schemas.openxmlformats.org/drawingml/2006/table">
            <a:tbl>
              <a:tblPr/>
              <a:tblGrid>
                <a:gridCol w="5120640"/>
                <a:gridCol w="1371600"/>
                <a:gridCol w="2651760"/>
                <a:gridCol w="1947672"/>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Rekomendasi</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Prioritas</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PIC</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Timeline</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B2545"/>
                    </a:solidFill>
                  </a:tcPr>
                </a:tc>
              </a:tr>
              <a:tr h="777240">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Buka toko fisik / pilot kiosk di 2-3 provinsi Luar Jawa berpotensi tinggi (prioritas: Sumsel &amp; Sulsel)</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Tinggi</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Regional Expansion Manager</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Q1–Q2 (3 bulan)</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777240">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Negosiasi ulang tarif kurir / gunakan hub fulfillment regional untuk memangkas ongkir</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Tinggi</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Logistics &amp; Supply Chain Lead</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Q1 (2 bulan)</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777240">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Kampanye promosi &amp; membership khusus Luar Jawa untuk membalik tren penurunan</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b="1" dirty="0">
                          <a:solidFill>
                            <a:srgbClr val="B8860B"/>
                          </a:solidFill>
                          <a:latin typeface="Calibri" pitchFamily="34" charset="0"/>
                          <a:ea typeface="Calibri" pitchFamily="34" charset="-122"/>
                          <a:cs typeface="Calibri" pitchFamily="34" charset="-120"/>
                        </a:rPr>
                        <a:t>Sedang</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Marketing Manager – Regional</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2B3245"/>
                          </a:solidFill>
                          <a:latin typeface="Calibri" pitchFamily="34" charset="0"/>
                          <a:ea typeface="Calibri" pitchFamily="34" charset="-122"/>
                          <a:cs typeface="Calibri" pitchFamily="34" charset="-120"/>
                        </a:rPr>
                        <a:t>Berjalan, evaluasi tiap kuartal</a:t>
                      </a:r>
                      <a:endParaRPr lang="en-US" sz="1150" dirty="0">
                        <a:latin typeface="Calibri" charset="0"/>
                        <a:ea typeface="Calibri" charset="0"/>
                        <a:cs typeface="Calibr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bl>
          </a:graphicData>
        </a:graphic>
      </p:graphicFrame>
      <p:sp>
        <p:nvSpPr>
          <p:cNvPr id="5" name="Text 2"/>
          <p:cNvSpPr/>
          <p:nvPr/>
        </p:nvSpPr>
        <p:spPr>
          <a:xfrm>
            <a:off x="548640" y="4892040"/>
            <a:ext cx="11091672" cy="365760"/>
          </a:xfrm>
          <a:prstGeom prst="rect">
            <a:avLst/>
          </a:prstGeom>
          <a:noFill/>
          <a:ln/>
        </p:spPr>
        <p:txBody>
          <a:bodyPr wrap="square" rtlCol="0" anchor="ctr"/>
          <a:lstStyle/>
          <a:p>
            <a:pPr indent="0" marL="0">
              <a:buNone/>
            </a:pPr>
            <a:r>
              <a:rPr lang="en-US" sz="1100" i="1" dirty="0">
                <a:solidFill>
                  <a:srgbClr val="6E7B91"/>
                </a:solidFill>
                <a:latin typeface="Calibri" pitchFamily="34" charset="0"/>
                <a:ea typeface="Calibri" pitchFamily="34" charset="-122"/>
                <a:cs typeface="Calibri" pitchFamily="34" charset="-120"/>
              </a:rPr>
              <a:t>Detail lengkap, estimasi dampak, dan KPI pemantauan tersedia pada 08_Recommendation_Matrix.xlsx</a:t>
            </a:r>
            <a:endParaRPr lang="en-US" sz="1100" dirty="0"/>
          </a:p>
        </p:txBody>
      </p:sp>
      <p:sp>
        <p:nvSpPr>
          <p:cNvPr id="6" name="Text 3"/>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12 · EXPECTED IMPACT</a:t>
            </a:r>
            <a:endParaRPr lang="en-US" sz="1300" dirty="0"/>
          </a:p>
        </p:txBody>
      </p:sp>
      <p:sp>
        <p:nvSpPr>
          <p:cNvPr id="3" name="Text 1"/>
          <p:cNvSpPr/>
          <p:nvPr/>
        </p:nvSpPr>
        <p:spPr>
          <a:xfrm>
            <a:off x="548640" y="749808"/>
            <a:ext cx="11091672" cy="64008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Dampak yang Diharapkan</a:t>
            </a:r>
            <a:endParaRPr lang="en-US" sz="3000" dirty="0"/>
          </a:p>
        </p:txBody>
      </p:sp>
      <p:sp>
        <p:nvSpPr>
          <p:cNvPr id="4" name="Shape 2"/>
          <p:cNvSpPr/>
          <p:nvPr/>
        </p:nvSpPr>
        <p:spPr>
          <a:xfrm>
            <a:off x="548640" y="1691640"/>
            <a:ext cx="2567178" cy="2377440"/>
          </a:xfrm>
          <a:prstGeom prst="roundRect">
            <a:avLst>
              <a:gd name="adj" fmla="val 3846"/>
            </a:avLst>
          </a:prstGeom>
          <a:solidFill>
            <a:srgbClr val="F4F7FC"/>
          </a:solidFill>
          <a:ln/>
        </p:spPr>
      </p:sp>
      <p:sp>
        <p:nvSpPr>
          <p:cNvPr id="5" name="Shape 3"/>
          <p:cNvSpPr/>
          <p:nvPr/>
        </p:nvSpPr>
        <p:spPr>
          <a:xfrm>
            <a:off x="777240" y="1965960"/>
            <a:ext cx="502920" cy="502920"/>
          </a:xfrm>
          <a:prstGeom prst="ellipse">
            <a:avLst/>
          </a:prstGeom>
          <a:solidFill>
            <a:srgbClr val="1E8F6F"/>
          </a:solidFill>
          <a:ln/>
        </p:spPr>
      </p:sp>
      <p:sp>
        <p:nvSpPr>
          <p:cNvPr id="6" name="Text 4"/>
          <p:cNvSpPr/>
          <p:nvPr/>
        </p:nvSpPr>
        <p:spPr>
          <a:xfrm>
            <a:off x="77724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777240" y="2606040"/>
            <a:ext cx="2109978" cy="502920"/>
          </a:xfrm>
          <a:prstGeom prst="rect">
            <a:avLst/>
          </a:prstGeom>
          <a:noFill/>
          <a:ln/>
        </p:spPr>
        <p:txBody>
          <a:bodyPr wrap="square"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+8–10%</a:t>
            </a:r>
            <a:endParaRPr lang="en-US" sz="2200" dirty="0"/>
          </a:p>
        </p:txBody>
      </p:sp>
      <p:sp>
        <p:nvSpPr>
          <p:cNvPr id="8" name="Text 6"/>
          <p:cNvSpPr/>
          <p:nvPr/>
        </p:nvSpPr>
        <p:spPr>
          <a:xfrm>
            <a:off x="777240" y="3154680"/>
            <a:ext cx="2109978" cy="822960"/>
          </a:xfrm>
          <a:prstGeom prst="rect">
            <a:avLst/>
          </a:prstGeom>
          <a:noFill/>
          <a:ln/>
        </p:spPr>
        <p:txBody>
          <a:bodyPr wrap="square" rtlCol="0" anchor="ctr"/>
          <a:lstStyle/>
          <a:p>
            <a:pPr indent="0" marL="0">
              <a:lnSpc>
                <a:spcPct val="120000"/>
              </a:lnSpc>
              <a:buNone/>
            </a:pPr>
            <a:r>
              <a:rPr lang="en-US" sz="1100" dirty="0">
                <a:solidFill>
                  <a:srgbClr val="2B3245"/>
                </a:solidFill>
                <a:latin typeface="Calibri" pitchFamily="34" charset="0"/>
                <a:ea typeface="Calibri" pitchFamily="34" charset="-122"/>
                <a:cs typeface="Calibri" pitchFamily="34" charset="-120"/>
              </a:rPr>
              <a:t>Kenaikan revenue di provinsi ekspansi dalam 6 bulan pertama pembukaan toko</a:t>
            </a:r>
            <a:endParaRPr lang="en-US" sz="1100" dirty="0"/>
          </a:p>
        </p:txBody>
      </p:sp>
      <p:sp>
        <p:nvSpPr>
          <p:cNvPr id="9" name="Shape 7"/>
          <p:cNvSpPr/>
          <p:nvPr/>
        </p:nvSpPr>
        <p:spPr>
          <a:xfrm>
            <a:off x="3390138" y="1691640"/>
            <a:ext cx="2567178" cy="2377440"/>
          </a:xfrm>
          <a:prstGeom prst="roundRect">
            <a:avLst>
              <a:gd name="adj" fmla="val 3846"/>
            </a:avLst>
          </a:prstGeom>
          <a:solidFill>
            <a:srgbClr val="F4F7FC"/>
          </a:solidFill>
          <a:ln/>
        </p:spPr>
      </p:sp>
      <p:sp>
        <p:nvSpPr>
          <p:cNvPr id="10" name="Shape 8"/>
          <p:cNvSpPr/>
          <p:nvPr/>
        </p:nvSpPr>
        <p:spPr>
          <a:xfrm>
            <a:off x="3618738" y="1965960"/>
            <a:ext cx="502920" cy="502920"/>
          </a:xfrm>
          <a:prstGeom prst="ellipse">
            <a:avLst/>
          </a:prstGeom>
          <a:solidFill>
            <a:srgbClr val="1E8F6F"/>
          </a:solidFill>
          <a:ln/>
        </p:spPr>
      </p:sp>
      <p:sp>
        <p:nvSpPr>
          <p:cNvPr id="11" name="Text 9"/>
          <p:cNvSpPr/>
          <p:nvPr/>
        </p:nvSpPr>
        <p:spPr>
          <a:xfrm>
            <a:off x="3618738"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3618738" y="2606040"/>
            <a:ext cx="2109978" cy="502920"/>
          </a:xfrm>
          <a:prstGeom prst="rect">
            <a:avLst/>
          </a:prstGeom>
          <a:noFill/>
          <a:ln/>
        </p:spPr>
        <p:txBody>
          <a:bodyPr wrap="square"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+4 poin</a:t>
            </a:r>
            <a:endParaRPr lang="en-US" sz="2200" dirty="0"/>
          </a:p>
        </p:txBody>
      </p:sp>
      <p:sp>
        <p:nvSpPr>
          <p:cNvPr id="13" name="Text 11"/>
          <p:cNvSpPr/>
          <p:nvPr/>
        </p:nvSpPr>
        <p:spPr>
          <a:xfrm>
            <a:off x="3618738" y="3154680"/>
            <a:ext cx="2109978" cy="822960"/>
          </a:xfrm>
          <a:prstGeom prst="rect">
            <a:avLst/>
          </a:prstGeom>
          <a:noFill/>
          <a:ln/>
        </p:spPr>
        <p:txBody>
          <a:bodyPr wrap="square" rtlCol="0" anchor="ctr"/>
          <a:lstStyle/>
          <a:p>
            <a:pPr indent="0" marL="0">
              <a:lnSpc>
                <a:spcPct val="120000"/>
              </a:lnSpc>
              <a:buNone/>
            </a:pPr>
            <a:r>
              <a:rPr lang="en-US" sz="1100" dirty="0">
                <a:solidFill>
                  <a:srgbClr val="2B3245"/>
                </a:solidFill>
                <a:latin typeface="Calibri" pitchFamily="34" charset="0"/>
                <a:ea typeface="Calibri" pitchFamily="34" charset="-122"/>
                <a:cs typeface="Calibri" pitchFamily="34" charset="-120"/>
              </a:rPr>
              <a:t>Kenaikan margin Luar Jawa (≈ Rp 377 juta profit tambahan/tahun)</a:t>
            </a:r>
            <a:endParaRPr lang="en-US" sz="1100" dirty="0"/>
          </a:p>
        </p:txBody>
      </p:sp>
      <p:sp>
        <p:nvSpPr>
          <p:cNvPr id="14" name="Shape 12"/>
          <p:cNvSpPr/>
          <p:nvPr/>
        </p:nvSpPr>
        <p:spPr>
          <a:xfrm>
            <a:off x="6231636" y="1691640"/>
            <a:ext cx="2567178" cy="2377440"/>
          </a:xfrm>
          <a:prstGeom prst="roundRect">
            <a:avLst>
              <a:gd name="adj" fmla="val 3846"/>
            </a:avLst>
          </a:prstGeom>
          <a:solidFill>
            <a:srgbClr val="F4F7FC"/>
          </a:solidFill>
          <a:ln/>
        </p:spPr>
      </p:sp>
      <p:sp>
        <p:nvSpPr>
          <p:cNvPr id="15" name="Shape 13"/>
          <p:cNvSpPr/>
          <p:nvPr/>
        </p:nvSpPr>
        <p:spPr>
          <a:xfrm>
            <a:off x="6460236" y="1965960"/>
            <a:ext cx="502920" cy="502920"/>
          </a:xfrm>
          <a:prstGeom prst="ellipse">
            <a:avLst/>
          </a:prstGeom>
          <a:solidFill>
            <a:srgbClr val="1E8F6F"/>
          </a:solidFill>
          <a:ln/>
        </p:spPr>
      </p:sp>
      <p:sp>
        <p:nvSpPr>
          <p:cNvPr id="16" name="Text 14"/>
          <p:cNvSpPr/>
          <p:nvPr/>
        </p:nvSpPr>
        <p:spPr>
          <a:xfrm>
            <a:off x="6460236"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6460236" y="2606040"/>
            <a:ext cx="2109978" cy="502920"/>
          </a:xfrm>
          <a:prstGeom prst="rect">
            <a:avLst/>
          </a:prstGeom>
          <a:noFill/>
          <a:ln/>
        </p:spPr>
        <p:txBody>
          <a:bodyPr wrap="square"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Positif</a:t>
            </a:r>
            <a:endParaRPr lang="en-US" sz="2200" dirty="0"/>
          </a:p>
        </p:txBody>
      </p:sp>
      <p:sp>
        <p:nvSpPr>
          <p:cNvPr id="18" name="Text 16"/>
          <p:cNvSpPr/>
          <p:nvPr/>
        </p:nvSpPr>
        <p:spPr>
          <a:xfrm>
            <a:off x="6460236" y="3154680"/>
            <a:ext cx="2109978" cy="822960"/>
          </a:xfrm>
          <a:prstGeom prst="rect">
            <a:avLst/>
          </a:prstGeom>
          <a:noFill/>
          <a:ln/>
        </p:spPr>
        <p:txBody>
          <a:bodyPr wrap="square" rtlCol="0" anchor="ctr"/>
          <a:lstStyle/>
          <a:p>
            <a:pPr indent="0" marL="0">
              <a:lnSpc>
                <a:spcPct val="120000"/>
              </a:lnSpc>
              <a:buNone/>
            </a:pPr>
            <a:r>
              <a:rPr lang="en-US" sz="1100" dirty="0">
                <a:solidFill>
                  <a:srgbClr val="2B3245"/>
                </a:solidFill>
                <a:latin typeface="Calibri" pitchFamily="34" charset="0"/>
                <a:ea typeface="Calibri" pitchFamily="34" charset="-122"/>
                <a:cs typeface="Calibri" pitchFamily="34" charset="-120"/>
              </a:rPr>
              <a:t>Tren revenue Luar Jawa berbalik dari -4,8% menjadi positif dalam 2 kuartal</a:t>
            </a:r>
            <a:endParaRPr lang="en-US" sz="1100" dirty="0"/>
          </a:p>
        </p:txBody>
      </p:sp>
      <p:sp>
        <p:nvSpPr>
          <p:cNvPr id="19" name="Shape 17"/>
          <p:cNvSpPr/>
          <p:nvPr/>
        </p:nvSpPr>
        <p:spPr>
          <a:xfrm>
            <a:off x="9073134" y="1691640"/>
            <a:ext cx="2567178" cy="2377440"/>
          </a:xfrm>
          <a:prstGeom prst="roundRect">
            <a:avLst>
              <a:gd name="adj" fmla="val 3846"/>
            </a:avLst>
          </a:prstGeom>
          <a:solidFill>
            <a:srgbClr val="F4F7FC"/>
          </a:solidFill>
          <a:ln/>
        </p:spPr>
      </p:sp>
      <p:sp>
        <p:nvSpPr>
          <p:cNvPr id="20" name="Shape 18"/>
          <p:cNvSpPr/>
          <p:nvPr/>
        </p:nvSpPr>
        <p:spPr>
          <a:xfrm>
            <a:off x="9301734" y="1965960"/>
            <a:ext cx="502920" cy="502920"/>
          </a:xfrm>
          <a:prstGeom prst="ellipse">
            <a:avLst/>
          </a:prstGeom>
          <a:solidFill>
            <a:srgbClr val="1E8F6F"/>
          </a:solidFill>
          <a:ln/>
        </p:spPr>
      </p:sp>
      <p:sp>
        <p:nvSpPr>
          <p:cNvPr id="21" name="Text 19"/>
          <p:cNvSpPr/>
          <p:nvPr/>
        </p:nvSpPr>
        <p:spPr>
          <a:xfrm>
            <a:off x="9301734"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9301734" y="2606040"/>
            <a:ext cx="2109978" cy="502920"/>
          </a:xfrm>
          <a:prstGeom prst="rect">
            <a:avLst/>
          </a:prstGeom>
          <a:noFill/>
          <a:ln/>
        </p:spPr>
        <p:txBody>
          <a:bodyPr wrap="square"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≥20%</a:t>
            </a:r>
            <a:endParaRPr lang="en-US" sz="2200" dirty="0"/>
          </a:p>
        </p:txBody>
      </p:sp>
      <p:sp>
        <p:nvSpPr>
          <p:cNvPr id="23" name="Text 21"/>
          <p:cNvSpPr/>
          <p:nvPr/>
        </p:nvSpPr>
        <p:spPr>
          <a:xfrm>
            <a:off x="9301734" y="3154680"/>
            <a:ext cx="2109978" cy="822960"/>
          </a:xfrm>
          <a:prstGeom prst="rect">
            <a:avLst/>
          </a:prstGeom>
          <a:noFill/>
          <a:ln/>
        </p:spPr>
        <p:txBody>
          <a:bodyPr wrap="square" rtlCol="0" anchor="ctr"/>
          <a:lstStyle/>
          <a:p>
            <a:pPr indent="0" marL="0">
              <a:lnSpc>
                <a:spcPct val="120000"/>
              </a:lnSpc>
              <a:buNone/>
            </a:pPr>
            <a:r>
              <a:rPr lang="en-US" sz="1100" dirty="0">
                <a:solidFill>
                  <a:srgbClr val="2B3245"/>
                </a:solidFill>
                <a:latin typeface="Calibri" pitchFamily="34" charset="0"/>
                <a:ea typeface="Calibri" pitchFamily="34" charset="-122"/>
                <a:cs typeface="Calibri" pitchFamily="34" charset="-120"/>
              </a:rPr>
              <a:t>Kontribusi Jawa Barat turun dari 22% seiring pertumbuhan wilayah lain</a:t>
            </a:r>
            <a:endParaRPr lang="en-US" sz="1100" dirty="0"/>
          </a:p>
        </p:txBody>
      </p:sp>
      <p:sp>
        <p:nvSpPr>
          <p:cNvPr id="24" name="Shape 22"/>
          <p:cNvSpPr/>
          <p:nvPr/>
        </p:nvSpPr>
        <p:spPr>
          <a:xfrm>
            <a:off x="548640" y="4343400"/>
            <a:ext cx="11091672" cy="1737360"/>
          </a:xfrm>
          <a:prstGeom prst="roundRect">
            <a:avLst>
              <a:gd name="adj" fmla="val 4211"/>
            </a:avLst>
          </a:prstGeom>
          <a:solidFill>
            <a:srgbClr val="F4F7FC"/>
          </a:solidFill>
          <a:ln/>
        </p:spPr>
      </p:sp>
      <p:sp>
        <p:nvSpPr>
          <p:cNvPr id="25" name="Text 23"/>
          <p:cNvSpPr/>
          <p:nvPr/>
        </p:nvSpPr>
        <p:spPr>
          <a:xfrm>
            <a:off x="822960" y="4526280"/>
            <a:ext cx="3657600" cy="32004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KPI Pemantauan</a:t>
            </a:r>
            <a:endParaRPr lang="en-US" sz="1300" dirty="0"/>
          </a:p>
        </p:txBody>
      </p:sp>
      <p:sp>
        <p:nvSpPr>
          <p:cNvPr id="26" name="Text 24"/>
          <p:cNvSpPr/>
          <p:nvPr/>
        </p:nvSpPr>
        <p:spPr>
          <a:xfrm>
            <a:off x="822960" y="4846320"/>
            <a:ext cx="10543032" cy="114300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2B3245"/>
                </a:solidFill>
                <a:latin typeface="Calibri" pitchFamily="34" charset="0"/>
                <a:ea typeface="Calibri" pitchFamily="34" charset="-122"/>
                <a:cs typeface="Calibri" pitchFamily="34" charset="-120"/>
              </a:rPr>
              <a:t>Revenue &amp; jumlah transaksi offline per provinsi ekspansi</a:t>
            </a:r>
            <a:endParaRPr lang="en-US" sz="1200" dirty="0"/>
          </a:p>
          <a:p>
            <a:pPr marL="342900" indent="-342900">
              <a:lnSpc>
                <a:spcPct val="120000"/>
              </a:lnSpc>
              <a:spcAft>
                <a:spcPts val="600"/>
              </a:spcAft>
              <a:buSzPct val="100000"/>
              <a:buChar char="•"/>
            </a:pPr>
            <a:r>
              <a:rPr lang="en-US" sz="1200" dirty="0">
                <a:solidFill>
                  <a:srgbClr val="2B3245"/>
                </a:solidFill>
                <a:latin typeface="Calibri" pitchFamily="34" charset="0"/>
                <a:ea typeface="Calibri" pitchFamily="34" charset="-122"/>
                <a:cs typeface="Calibri" pitchFamily="34" charset="-120"/>
              </a:rPr>
              <a:t>Biaya ongkir per order dan margin % per wilayah</a:t>
            </a:r>
            <a:endParaRPr lang="en-US" sz="1200" dirty="0"/>
          </a:p>
          <a:p>
            <a:pPr marL="342900" indent="-342900">
              <a:lnSpc>
                <a:spcPct val="120000"/>
              </a:lnSpc>
              <a:spcAft>
                <a:spcPts val="600"/>
              </a:spcAft>
              <a:buSzPct val="100000"/>
              <a:buChar char="•"/>
            </a:pPr>
            <a:r>
              <a:rPr lang="en-US" sz="1200" dirty="0">
                <a:solidFill>
                  <a:srgbClr val="2B3245"/>
                </a:solidFill>
                <a:latin typeface="Calibri" pitchFamily="34" charset="0"/>
                <a:ea typeface="Calibri" pitchFamily="34" charset="-122"/>
                <a:cs typeface="Calibri" pitchFamily="34" charset="-120"/>
              </a:rPr>
              <a:t>Growth % bulanan per wilayah dan % kontribusi revenue per provinsi</a:t>
            </a:r>
            <a:endParaRPr lang="en-US" sz="1200" dirty="0"/>
          </a:p>
        </p:txBody>
      </p:sp>
      <p:sp>
        <p:nvSpPr>
          <p:cNvPr id="27" name="Text 25"/>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6E7B91"/>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28" name="Text 26"/>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7B9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065A82">
              <a:alpha val="40000"/>
            </a:srgbClr>
          </a:solidFill>
          <a:ln/>
        </p:spPr>
      </p:sp>
      <p:sp>
        <p:nvSpPr>
          <p:cNvPr id="3" name="Text 1"/>
          <p:cNvSpPr/>
          <p:nvPr/>
        </p:nvSpPr>
        <p:spPr>
          <a:xfrm>
            <a:off x="731520" y="822960"/>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13 · CONCLUSION</a:t>
            </a:r>
            <a:endParaRPr lang="en-US" sz="1300" dirty="0"/>
          </a:p>
        </p:txBody>
      </p:sp>
      <p:sp>
        <p:nvSpPr>
          <p:cNvPr id="4" name="Text 2"/>
          <p:cNvSpPr/>
          <p:nvPr/>
        </p:nvSpPr>
        <p:spPr>
          <a:xfrm>
            <a:off x="731520" y="1143000"/>
            <a:ext cx="91440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Kesimpulan</a:t>
            </a:r>
            <a:endParaRPr lang="en-US" sz="3200" dirty="0"/>
          </a:p>
        </p:txBody>
      </p:sp>
      <p:sp>
        <p:nvSpPr>
          <p:cNvPr id="5" name="Text 3"/>
          <p:cNvSpPr/>
          <p:nvPr/>
        </p:nvSpPr>
        <p:spPr>
          <a:xfrm>
            <a:off x="731520" y="2194560"/>
            <a:ext cx="8686800" cy="914400"/>
          </a:xfrm>
          <a:prstGeom prst="rect">
            <a:avLst/>
          </a:prstGeom>
          <a:noFill/>
          <a:ln/>
        </p:spPr>
        <p:txBody>
          <a:bodyPr wrap="square" rtlCol="0" anchor="ctr"/>
          <a:lstStyle/>
          <a:p>
            <a:pPr indent="0" marL="0">
              <a:lnSpc>
                <a:spcPct val="130000"/>
              </a:lnSpc>
              <a:buNone/>
            </a:pPr>
            <a:r>
              <a:rPr lang="en-US" sz="1700" i="1" dirty="0">
                <a:solidFill>
                  <a:srgbClr val="CADCFC"/>
                </a:solidFill>
                <a:latin typeface="Cambria" pitchFamily="34" charset="0"/>
                <a:ea typeface="Cambria" pitchFamily="34" charset="-122"/>
                <a:cs typeface="Cambria" pitchFamily="34" charset="-120"/>
              </a:rPr>
              <a:t>Gap performa Jawa vs Luar Jawa bukan semata soal permintaan pasar, melainkan soal ketimpangan jaringan distribusi (toko fisik) dan struktur biaya logistik.</a:t>
            </a:r>
            <a:endParaRPr lang="en-US" sz="1700" dirty="0"/>
          </a:p>
        </p:txBody>
      </p:sp>
      <p:sp>
        <p:nvSpPr>
          <p:cNvPr id="6" name="Text 4"/>
          <p:cNvSpPr/>
          <p:nvPr/>
        </p:nvSpPr>
        <p:spPr>
          <a:xfrm>
            <a:off x="731520" y="3200400"/>
            <a:ext cx="8686800" cy="914400"/>
          </a:xfrm>
          <a:prstGeom prst="rect">
            <a:avLst/>
          </a:prstGeom>
          <a:noFill/>
          <a:ln/>
        </p:spPr>
        <p:txBody>
          <a:bodyPr wrap="square" rtlCol="0" anchor="ctr"/>
          <a:lstStyle/>
          <a:p>
            <a:pPr indent="0" marL="0">
              <a:lnSpc>
                <a:spcPct val="135000"/>
              </a:lnSpc>
              <a:buNone/>
            </a:pPr>
            <a:r>
              <a:rPr lang="en-US" sz="1400" dirty="0">
                <a:solidFill>
                  <a:srgbClr val="C7D5EE"/>
                </a:solidFill>
                <a:latin typeface="Calibri" pitchFamily="34" charset="0"/>
                <a:ea typeface="Calibri" pitchFamily="34" charset="-122"/>
                <a:cs typeface="Calibri" pitchFamily="34" charset="-120"/>
              </a:rPr>
              <a:t>Menutup dua gap ini — kehadiran fisik dan efisiensi logistik — adalah pengungkit utama untuk menaikkan revenue dan profit dari wilayah Luar Jawa, tanpa harus menambah investasi besar di Jawa yang sudah matang.</a:t>
            </a:r>
            <a:endParaRPr lang="en-US" sz="1400" dirty="0"/>
          </a:p>
        </p:txBody>
      </p:sp>
      <p:sp>
        <p:nvSpPr>
          <p:cNvPr id="7" name="Shape 5"/>
          <p:cNvSpPr/>
          <p:nvPr/>
        </p:nvSpPr>
        <p:spPr>
          <a:xfrm>
            <a:off x="731520" y="4480560"/>
            <a:ext cx="2743200" cy="1371600"/>
          </a:xfrm>
          <a:prstGeom prst="roundRect">
            <a:avLst>
              <a:gd name="adj" fmla="val 5333"/>
            </a:avLst>
          </a:prstGeom>
          <a:solidFill>
            <a:srgbClr val="13305C"/>
          </a:solidFill>
          <a:ln w="12700">
            <a:solidFill>
              <a:srgbClr val="1C7293"/>
            </a:solidFill>
            <a:prstDash val="solid"/>
          </a:ln>
        </p:spPr>
      </p:sp>
      <p:sp>
        <p:nvSpPr>
          <p:cNvPr id="8" name="Text 6"/>
          <p:cNvSpPr/>
          <p:nvPr/>
        </p:nvSpPr>
        <p:spPr>
          <a:xfrm>
            <a:off x="914400" y="4617720"/>
            <a:ext cx="237744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FOKUS</a:t>
            </a:r>
            <a:endParaRPr lang="en-US" sz="1050" dirty="0"/>
          </a:p>
        </p:txBody>
      </p:sp>
      <p:sp>
        <p:nvSpPr>
          <p:cNvPr id="9" name="Text 7"/>
          <p:cNvSpPr/>
          <p:nvPr/>
        </p:nvSpPr>
        <p:spPr>
          <a:xfrm>
            <a:off x="914400" y="4892040"/>
            <a:ext cx="2377440" cy="8686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2-3 provinsi Luar Jawa prioritas tinggi</a:t>
            </a:r>
            <a:endParaRPr lang="en-US" sz="1250" dirty="0"/>
          </a:p>
        </p:txBody>
      </p:sp>
      <p:sp>
        <p:nvSpPr>
          <p:cNvPr id="10" name="Shape 8"/>
          <p:cNvSpPr/>
          <p:nvPr/>
        </p:nvSpPr>
        <p:spPr>
          <a:xfrm>
            <a:off x="3703320" y="4480560"/>
            <a:ext cx="2743200" cy="1371600"/>
          </a:xfrm>
          <a:prstGeom prst="roundRect">
            <a:avLst>
              <a:gd name="adj" fmla="val 5333"/>
            </a:avLst>
          </a:prstGeom>
          <a:solidFill>
            <a:srgbClr val="13305C"/>
          </a:solidFill>
          <a:ln w="12700">
            <a:solidFill>
              <a:srgbClr val="1C7293"/>
            </a:solidFill>
            <a:prstDash val="solid"/>
          </a:ln>
        </p:spPr>
      </p:sp>
      <p:sp>
        <p:nvSpPr>
          <p:cNvPr id="11" name="Text 9"/>
          <p:cNvSpPr/>
          <p:nvPr/>
        </p:nvSpPr>
        <p:spPr>
          <a:xfrm>
            <a:off x="3886200" y="4617720"/>
            <a:ext cx="237744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UNGKIT</a:t>
            </a:r>
            <a:endParaRPr lang="en-US" sz="1050" dirty="0"/>
          </a:p>
        </p:txBody>
      </p:sp>
      <p:sp>
        <p:nvSpPr>
          <p:cNvPr id="12" name="Text 10"/>
          <p:cNvSpPr/>
          <p:nvPr/>
        </p:nvSpPr>
        <p:spPr>
          <a:xfrm>
            <a:off x="3886200" y="4892040"/>
            <a:ext cx="2377440" cy="8686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Toko fisik + efisiensi logistik</a:t>
            </a:r>
            <a:endParaRPr lang="en-US" sz="1250" dirty="0"/>
          </a:p>
        </p:txBody>
      </p:sp>
      <p:sp>
        <p:nvSpPr>
          <p:cNvPr id="13" name="Shape 11"/>
          <p:cNvSpPr/>
          <p:nvPr/>
        </p:nvSpPr>
        <p:spPr>
          <a:xfrm>
            <a:off x="6675120" y="4480560"/>
            <a:ext cx="2743200" cy="1371600"/>
          </a:xfrm>
          <a:prstGeom prst="roundRect">
            <a:avLst>
              <a:gd name="adj" fmla="val 5333"/>
            </a:avLst>
          </a:prstGeom>
          <a:solidFill>
            <a:srgbClr val="13305C"/>
          </a:solidFill>
          <a:ln w="12700">
            <a:solidFill>
              <a:srgbClr val="1C7293"/>
            </a:solidFill>
            <a:prstDash val="solid"/>
          </a:ln>
        </p:spPr>
      </p:sp>
      <p:sp>
        <p:nvSpPr>
          <p:cNvPr id="14" name="Text 12"/>
          <p:cNvSpPr/>
          <p:nvPr/>
        </p:nvSpPr>
        <p:spPr>
          <a:xfrm>
            <a:off x="6858000" y="4617720"/>
            <a:ext cx="237744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TARGET</a:t>
            </a:r>
            <a:endParaRPr lang="en-US" sz="1050" dirty="0"/>
          </a:p>
        </p:txBody>
      </p:sp>
      <p:sp>
        <p:nvSpPr>
          <p:cNvPr id="15" name="Text 13"/>
          <p:cNvSpPr/>
          <p:nvPr/>
        </p:nvSpPr>
        <p:spPr>
          <a:xfrm>
            <a:off x="6858000" y="4892040"/>
            <a:ext cx="2377440" cy="8686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Margin Luar Jawa setara Jawa</a:t>
            </a:r>
            <a:endParaRPr lang="en-US" sz="1250" dirty="0"/>
          </a:p>
        </p:txBody>
      </p:sp>
      <p:sp>
        <p:nvSpPr>
          <p:cNvPr id="16" name="Text 14"/>
          <p:cNvSpPr/>
          <p:nvPr/>
        </p:nvSpPr>
        <p:spPr>
          <a:xfrm>
            <a:off x="731520" y="5989320"/>
            <a:ext cx="7315200" cy="320040"/>
          </a:xfrm>
          <a:prstGeom prst="rect">
            <a:avLst/>
          </a:prstGeom>
          <a:noFill/>
          <a:ln/>
        </p:spPr>
        <p:txBody>
          <a:bodyPr wrap="square" rtlCol="0" anchor="ctr"/>
          <a:lstStyle/>
          <a:p>
            <a:pPr indent="0" marL="0">
              <a:buNone/>
            </a:pPr>
            <a:r>
              <a:rPr lang="en-US" sz="1250" i="1" dirty="0">
                <a:solidFill>
                  <a:srgbClr val="9FB3D9"/>
                </a:solidFill>
                <a:latin typeface="Calibri" pitchFamily="34" charset="0"/>
                <a:ea typeface="Calibri" pitchFamily="34" charset="-122"/>
                <a:cs typeface="Calibri" pitchFamily="34" charset="-120"/>
              </a:rPr>
              <a:t>Terima kasih — siap untuk sesi Q&amp;A.</a:t>
            </a:r>
            <a:endParaRPr lang="en-US" sz="1250" dirty="0"/>
          </a:p>
        </p:txBody>
      </p:sp>
      <p:sp>
        <p:nvSpPr>
          <p:cNvPr id="17" name="Text 15"/>
          <p:cNvSpPr/>
          <p:nvPr/>
        </p:nvSpPr>
        <p:spPr>
          <a:xfrm>
            <a:off x="457200" y="6446520"/>
            <a:ext cx="8229600" cy="274320"/>
          </a:xfrm>
          <a:prstGeom prst="rect">
            <a:avLst/>
          </a:prstGeom>
          <a:noFill/>
          <a:ln/>
        </p:spPr>
        <p:txBody>
          <a:bodyPr wrap="square" rtlCol="0" anchor="ctr"/>
          <a:lstStyle/>
          <a:p>
            <a:pPr algn="l" indent="0" marL="0">
              <a:buNone/>
            </a:pPr>
            <a:r>
              <a:rPr lang="en-US" sz="900" dirty="0">
                <a:solidFill>
                  <a:srgbClr val="9FB3D9"/>
                </a:solidFill>
                <a:latin typeface="Calibri" pitchFamily="34" charset="0"/>
                <a:ea typeface="Calibri" pitchFamily="34" charset="-122"/>
                <a:cs typeface="Calibri" pitchFamily="34" charset="-120"/>
              </a:rPr>
              <a:t>Regional / Branch Performance Analysis  •  Simulasi Industri Junior Data Analyst</a:t>
            </a:r>
            <a:endParaRPr lang="en-US" sz="900" dirty="0"/>
          </a:p>
        </p:txBody>
      </p:sp>
      <p:sp>
        <p:nvSpPr>
          <p:cNvPr id="18" name="Text 16"/>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9FB3D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2026-09-16T07:37:00Z</dcterms:created>
  <dcterms:modified xsi:type="dcterms:W3CDTF">2026-09-16T07:37:00Z</dcterms:modified>
</cp:coreProperties>
</file>